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2" roundtripDataSignature="AMtx7mhhD0i68r4Mg2+WIL6YGqD2lf3T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2" Type="http://customschemas.google.com/relationships/presentationmetadata" Target="metadata"/><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min] Opening. I'm Durga Bhavani Pathina. This is a small local prototype I built for asking questions about a single research paper and getting answers tied to passages in that paper.</a:t>
            </a:r>
            <a:br>
              <a:rPr lang="en-US"/>
            </a:br>
            <a:br>
              <a:rPr lang="en-US"/>
            </a:br>
            <a:r>
              <a:rPr lang="en-US"/>
              <a:t>The problem: papers are long, and when a tool generates an answer, a reader needs to know where it came from and whether the source really supports it. The objective is a local prototype that retrieves relevant passages and gives traceable, evidence-grounded answers.</a:t>
            </a:r>
            <a:br>
              <a:rPr lang="en-US"/>
            </a:br>
            <a:br>
              <a:rPr lang="en-US"/>
            </a:br>
            <a:r>
              <a:rPr lang="en-US"/>
              <a:t>Term to explain: RAG (retrieval-augmented generation) means the system first retrieves relevant text from the paper, then gives that text to the language model as context for its answer.</a:t>
            </a:r>
            <a:br>
              <a:rPr lang="en-US"/>
            </a:br>
            <a:br>
              <a:rPr lang="en-US"/>
            </a:br>
            <a:r>
              <a:rPr lang="en-US"/>
              <a:t>Framing: this is a research prototype, not a finished product. I'd like to discuss how to evaluate it properly.</a:t>
            </a:r>
            <a:br>
              <a:rPr lang="en-US"/>
            </a:br>
            <a:br>
              <a:rPr lang="en-US"/>
            </a:br>
            <a:r>
              <a:rPr lang="en-US"/>
              <a:t>Likely questions:</a:t>
            </a:r>
            <a:br>
              <a:rPr lang="en-US"/>
            </a:br>
            <a:r>
              <a:rPr lang="en-US"/>
              <a:t>- Why local? Local inference and vector storage avoid paid model API dependencies and keep the indexed paper text on the machine. (First-time setup may still download model and embedding assets, so I don't call it fully offline.)</a:t>
            </a:r>
            <a:br>
              <a:rPr lang="en-US"/>
            </a:br>
            <a:r>
              <a:rPr lang="en-US"/>
              <a:t>- Is this novel? No. RAG is established. The value for me is a concrete system to study evidence grounding and its evaluation.</a:t>
            </a:r>
            <a:endParaRP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 min] Walk the diagram. Top row is indexing, done once per uploaded paper: the PDF's text is extracted, split into chunks, converted into embeddings with a local ONNX-based model, and stored in ChromaDB, saved locally under data/chroma.</a:t>
            </a:r>
            <a:br>
              <a:rPr lang="en-US"/>
            </a:br>
            <a:br>
              <a:rPr lang="en-US"/>
            </a:br>
            <a:r>
              <a:rPr lang="en-US"/>
              <a:t>Bottom row is per question: the question retrieves similar chunks from ChromaDB; those passages go to a local Qwen2.5-1.5B-Instruct model (4-bit quantized, Q4_K_M), run through llama.cpp. The output is either an answer with evidence/page citations, or an abstention if adequate evidence is not retrieved. Streamlit is the user interface.</a:t>
            </a:r>
            <a:br>
              <a:rPr lang="en-US"/>
            </a:br>
            <a:br>
              <a:rPr lang="en-US"/>
            </a:br>
            <a:r>
              <a:rPr lang="en-US"/>
              <a:t>Terms:</a:t>
            </a:r>
            <a:br>
              <a:rPr lang="en-US"/>
            </a:br>
            <a:r>
              <a:rPr lang="en-US"/>
              <a:t>- Chunking: splitting extracted text into passage-sized pieces so they can be searched individually.</a:t>
            </a:r>
            <a:br>
              <a:rPr lang="en-US"/>
            </a:br>
            <a:r>
              <a:rPr lang="en-US"/>
              <a:t>- Embedding: a numeric vector representing a passage's meaning; similar text gives nearby vectors.</a:t>
            </a:r>
            <a:br>
              <a:rPr lang="en-US"/>
            </a:br>
            <a:r>
              <a:rPr lang="en-US"/>
              <a:t>- Vector store (ChromaDB): a database that finds the nearest vectors to a query.</a:t>
            </a:r>
            <a:br>
              <a:rPr lang="en-US"/>
            </a:br>
            <a:r>
              <a:rPr lang="en-US"/>
              <a:t>- Quantization: storing model weights at lower precision (here 4-bit) so a model runs on modest hardware, at some cost in quality.</a:t>
            </a:r>
            <a:br>
              <a:rPr lang="en-US"/>
            </a:br>
            <a:r>
              <a:rPr lang="en-US"/>
              <a:t>- llama.cpp: a C/C++ inference engine for running such models locally.</a:t>
            </a:r>
            <a:br>
              <a:rPr lang="en-US"/>
            </a:br>
            <a:r>
              <a:rPr lang="en-US"/>
              <a:t>- Abstention: the system declines to answer instead of guessing.</a:t>
            </a:r>
            <a:br>
              <a:rPr lang="en-US"/>
            </a:br>
            <a:br>
              <a:rPr lang="en-US"/>
            </a:br>
            <a:r>
              <a:rPr lang="en-US"/>
              <a:t>Be explicit: citations do NOT guarantee correctness. A cited passage may not support the claim, and retrieval may miss the right passage.</a:t>
            </a:r>
            <a:br>
              <a:rPr lang="en-US"/>
            </a:br>
            <a:br>
              <a:rPr lang="en-US"/>
            </a:br>
            <a:r>
              <a:rPr lang="en-US"/>
              <a:t>Likely questions:</a:t>
            </a:r>
            <a:br>
              <a:rPr lang="en-US"/>
            </a:br>
            <a:r>
              <a:rPr lang="en-US"/>
              <a:t>- What chunk size, retrieval depth, or abstention threshold? Check the repository for the exact settings before the meeting and state them from the code; I do not quote numbers I haven't verified.</a:t>
            </a:r>
            <a:br>
              <a:rPr lang="en-US"/>
            </a:br>
            <a:r>
              <a:rPr lang="en-US"/>
              <a:t>- How does abstention work? It is a designed behavior when adequate evidence isn't retrieved; how reliable it is has not been evaluated (see slide 4).</a:t>
            </a:r>
            <a:endParaRPr/>
          </a:p>
        </p:txBody>
      </p:sp>
      <p:sp>
        <p:nvSpPr>
          <p:cNvPr id="43" name="Google Shape;4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min] These are the capabilities that are implemented: PDF upload and text indexing; searchable chunks with vector retrieval; question answering from retrieved passages; evidence and page citations meant to help a reader verify; abstention when adequate evidence is not retrieved; and local model inference with local vector storage.</a:t>
            </a:r>
            <a:br>
              <a:rPr lang="en-US"/>
            </a:br>
            <a:br>
              <a:rPr lang="en-US"/>
            </a:br>
            <a:r>
              <a:rPr lang="en-US"/>
              <a:t>The main design decision is the trade-off on the right. A small quantized local model avoids paid API dependencies and keeps inference and vector storage local, but it limits answer quality and reasoning. I chose it deliberately for a low-cost, reproducible prototype, and I treat its weaknesses as something to measure, not hide.</a:t>
            </a:r>
            <a:br>
              <a:rPr lang="en-US"/>
            </a:br>
            <a:br>
              <a:rPr lang="en-US"/>
            </a:br>
            <a:r>
              <a:rPr lang="en-US"/>
              <a:t>Scope statement: this is a prototype. I am not claiming production readiness, comprehensive security, or that hallucination is eliminated. Model and embedding assets may need to be downloaded during first-time setup.</a:t>
            </a:r>
            <a:br>
              <a:rPr lang="en-US"/>
            </a:br>
            <a:br>
              <a:rPr lang="en-US"/>
            </a:br>
            <a:r>
              <a:rPr lang="en-US"/>
              <a:t>Likely questions:</a:t>
            </a:r>
            <a:br>
              <a:rPr lang="en-US"/>
            </a:br>
            <a:r>
              <a:rPr lang="en-US"/>
              <a:t>- Why not a larger model or an API? Cost and local control for this stage. I have not run a controlled comparison across models, so I cannot say how much quality is lost; that is a natural future experiment.</a:t>
            </a:r>
            <a:br>
              <a:rPr lang="en-US"/>
            </a:br>
            <a:r>
              <a:rPr lang="en-US"/>
              <a:t>- How do you handle privacy? PDF text and vectors are stored locally in data/chroma. I have not done a security review, so I don't claim comprehensive security.</a:t>
            </a:r>
            <a:br>
              <a:rPr lang="en-US"/>
            </a:br>
            <a:r>
              <a:rPr lang="en-US"/>
              <a:t>- What if retrieval returns nothing relevant? The design intent is abstention, but how reliably it does so still needs testing.</a:t>
            </a:r>
            <a:endParaRPr/>
          </a:p>
        </p:txBody>
      </p:sp>
      <p:sp>
        <p:nvSpPr>
          <p:cNvPr id="80" name="Google Shape;8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 min] These are engineering checks and pilot-evaluation results. I want to be careful about what they mean.</a:t>
            </a:r>
            <a:br>
              <a:rPr lang="en-US"/>
            </a:br>
            <a:br>
              <a:rPr lang="en-US"/>
            </a:br>
            <a:r>
              <a:rPr lang="en-US"/>
              <a:t>Verified results:</a:t>
            </a:r>
            <a:br>
              <a:rPr lang="en-US"/>
            </a:br>
            <a:r>
              <a:rPr lang="en-US"/>
              <a:t>- Automated test suite: 70 tests passed.</a:t>
            </a:r>
            <a:br>
              <a:rPr lang="en-US"/>
            </a:br>
            <a:r>
              <a:rPr lang="en-US"/>
              <a:t>- Python compilation: passed.</a:t>
            </a:r>
            <a:br>
              <a:rPr lang="en-US"/>
            </a:br>
            <a:r>
              <a:rPr lang="en-US"/>
              <a:t>- Pilot dataset verifier: 10 papers, 10 questions, and 11 exact, page-verified evidence passages validated.</a:t>
            </a:r>
            <a:br>
              <a:rPr lang="en-US"/>
            </a:br>
            <a:r>
              <a:rPr lang="en-US"/>
              <a:t>- Two local-model pilot experiments are documented in the repository.</a:t>
            </a:r>
            <a:br>
              <a:rPr lang="en-US"/>
            </a:br>
            <a:br>
              <a:rPr lang="en-US"/>
            </a:br>
            <a:r>
              <a:rPr lang="en-US"/>
              <a:t>What this means: the software behaves as its tests expect, and the pilot dataset's reference evidence passages are exact and verified against the recorded pages. What it does NOT mean: these are not accuracy measurements. I am not reporting accuracy, precision, recall, F1, significance tests, or model comparisons, because I have not run an evaluation designed to produce them. Validating the evidence passages in the dataset is different from independently verifying the quality of the model's answers.</a:t>
            </a:r>
            <a:br>
              <a:rPr lang="en-US"/>
            </a:br>
            <a:br>
              <a:rPr lang="en-US"/>
            </a:br>
            <a:r>
              <a:rPr lang="en-US"/>
              <a:t>Citation correctness, answer correctness, and abstention reliability each need an appropriately designed evaluation, which is the research direction on the next slide.</a:t>
            </a:r>
            <a:br>
              <a:rPr lang="en-US"/>
            </a:br>
            <a:br>
              <a:rPr lang="en-US"/>
            </a:br>
            <a:r>
              <a:rPr lang="en-US"/>
              <a:t>Likely questions:</a:t>
            </a:r>
            <a:br>
              <a:rPr lang="en-US"/>
            </a:br>
            <a:r>
              <a:rPr lang="en-US"/>
              <a:t>- What is the accuracy? I don't have a defensible number yet, and I'd rather say so than quote one.</a:t>
            </a:r>
            <a:br>
              <a:rPr lang="en-US"/>
            </a:br>
            <a:r>
              <a:rPr lang="en-US"/>
              <a:t>- What did the pilot experiments find? Describe only what the repository documents, and treat them as exploratory with a small dataset. Review the repository write-ups before the meeting so you can summarize them accurately.</a:t>
            </a:r>
            <a:br>
              <a:rPr lang="en-US"/>
            </a:br>
            <a:r>
              <a:rPr lang="en-US"/>
              <a:t>- Is 10 papers enough? No. It is a pilot dataset for checking the pipeline and the evaluation setup, not for general claims.</a:t>
            </a:r>
            <a:endParaRPr/>
          </a:p>
        </p:txBody>
      </p:sp>
      <p:sp>
        <p:nvSpPr>
          <p:cNvPr id="119" name="Google Shape;11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min] Limitations first, stated plainly: the small local model can produce incomplete or incorrect answers; retrieval can miss relevant passages; a citation being present does not prove it supports the claim; the pilot datasets and evaluation are limited; and independent human evaluation is still needed.</a:t>
            </a:r>
            <a:br>
              <a:rPr lang="en-US"/>
            </a:br>
            <a:br>
              <a:rPr lang="en-US"/>
            </a:br>
            <a:r>
              <a:rPr lang="en-US"/>
              <a:t>Future research is mostly about measurement: define an evaluation protocol in advance and use it to measure retrieval quality and answer correctness; evaluate citation support and unsupported claims; test abstention with both answerable and unanswerable questions; compare prompting or retrieval strategies under controlled conditions; and improve reproducibility while documenting experimental limitations.</a:t>
            </a:r>
            <a:br>
              <a:rPr lang="en-US"/>
            </a:br>
            <a:br>
              <a:rPr lang="en-US"/>
            </a:br>
            <a:r>
              <a:rPr lang="en-US"/>
              <a:t>Close with research interest: this project connects trustworthy AI, RAG evaluation, software testing, and evidence-grounded language models. I'm looking for opportunities to learn how to evaluate such systems rigorously. The repository link is on the slide. (Do not imply any professor has agreed to supervise you or that an assistantship is in place.)</a:t>
            </a:r>
            <a:br>
              <a:rPr lang="en-US"/>
            </a:br>
            <a:br>
              <a:rPr lang="en-US"/>
            </a:br>
            <a:r>
              <a:rPr lang="en-US"/>
              <a:t>Likely questions:</a:t>
            </a:r>
            <a:br>
              <a:rPr lang="en-US"/>
            </a:br>
            <a:r>
              <a:rPr lang="en-US"/>
              <a:t>- What would your first experiment be? A small labeled set of answerable and unanswerable questions, with human judgments of whether each cited passage actually supports each claim.</a:t>
            </a:r>
            <a:br>
              <a:rPr lang="en-US"/>
            </a:br>
            <a:r>
              <a:rPr lang="en-US"/>
              <a:t>- How does software testing relate? The same ideas apply: define expected behavior, build test oracles for non-deterministic outputs, and measure failures systematically.</a:t>
            </a:r>
            <a:br>
              <a:rPr lang="en-US"/>
            </a:br>
            <a:r>
              <a:rPr lang="en-US"/>
              <a:t>- What is your own contribution? Describe only what you built and can show in the repository.</a:t>
            </a:r>
            <a:endParaRPr/>
          </a:p>
        </p:txBody>
      </p:sp>
      <p:sp>
        <p:nvSpPr>
          <p:cNvPr id="145" name="Google Shape;14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h1eca2568bb3fd58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1" name="Google Shape;161;h1eca2568bb3fd58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h1eca2568bb3fd58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h1eca2568bb3fd584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7" name="Google Shape;167;h1eca2568bb3fd584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h1eca2568bb3fd584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DARK">
  <p:cSld name="TITLE_DARK">
    <p:bg>
      <p:bgPr>
        <a:solidFill>
          <a:schemeClr val="dk2"/>
        </a:solidFill>
      </p:bgPr>
    </p:bg>
    <p:spTree>
      <p:nvGrpSpPr>
        <p:cNvPr id="11" name="Shape 11"/>
        <p:cNvGrpSpPr/>
        <p:nvPr/>
      </p:nvGrpSpPr>
      <p:grpSpPr>
        <a:xfrm>
          <a:off x="0" y="0"/>
          <a:ext cx="0" cy="0"/>
          <a:chOff x="0" y="0"/>
          <a:chExt cx="0" cy="0"/>
        </a:xfrm>
      </p:grpSpPr>
      <p:sp>
        <p:nvSpPr>
          <p:cNvPr id="12" name="Google Shape;12;p7"/>
          <p:cNvSpPr txBox="1"/>
          <p:nvPr>
            <p:ph type="title"/>
          </p:nvPr>
        </p:nvSpPr>
        <p:spPr>
          <a:xfrm>
            <a:off x="640080" y="1417320"/>
            <a:ext cx="5669280" cy="14630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400"/>
              <a:buFont typeface="Cambria"/>
              <a:buNone/>
              <a:defRPr b="1" i="0" sz="44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_LIGHT">
  <p:cSld name="CONTENT_LIGHT">
    <p:bg>
      <p:bgPr>
        <a:solidFill>
          <a:schemeClr val="lt1"/>
        </a:solidFill>
      </p:bgPr>
    </p:bg>
    <p:spTree>
      <p:nvGrpSpPr>
        <p:cNvPr id="13" name="Shape 13"/>
        <p:cNvGrpSpPr/>
        <p:nvPr/>
      </p:nvGrpSpPr>
      <p:grpSpPr>
        <a:xfrm>
          <a:off x="0" y="0"/>
          <a:ext cx="0" cy="0"/>
          <a:chOff x="0" y="0"/>
          <a:chExt cx="0" cy="0"/>
        </a:xfrm>
      </p:grpSpPr>
      <p:sp>
        <p:nvSpPr>
          <p:cNvPr id="14" name="Google Shape;14;p8"/>
          <p:cNvSpPr txBox="1"/>
          <p:nvPr>
            <p:ph type="title"/>
          </p:nvPr>
        </p:nvSpPr>
        <p:spPr>
          <a:xfrm>
            <a:off x="548640" y="320040"/>
            <a:ext cx="11064240" cy="7772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3400"/>
              <a:buFont typeface="Cambria"/>
              <a:buNone/>
              <a:defRPr b="1" i="0" sz="34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8"/>
          <p:cNvSpPr/>
          <p:nvPr/>
        </p:nvSpPr>
        <p:spPr>
          <a:xfrm>
            <a:off x="54864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000"/>
              <a:buFont typeface="Calibri"/>
              <a:buNone/>
            </a:pPr>
            <a:r>
              <a:rPr b="0" i="0" lang="en-US" sz="1000" u="none" cap="none" strike="noStrike">
                <a:solidFill>
                  <a:schemeClr val="accent3"/>
                </a:solidFill>
                <a:latin typeface="Calibri"/>
                <a:ea typeface="Calibri"/>
                <a:cs typeface="Calibri"/>
                <a:sym typeface="Calibri"/>
              </a:rPr>
              <a:t>AI Research Evidence Analyzer  ·  Durga Bhavani Pathina</a:t>
            </a:r>
            <a:endParaRPr b="0" i="0" sz="1000" u="none" cap="none" strike="noStrike">
              <a:solidFill>
                <a:schemeClr val="dk1"/>
              </a:solidFill>
              <a:latin typeface="Calibri"/>
              <a:ea typeface="Calibri"/>
              <a:cs typeface="Calibri"/>
              <a:sym typeface="Calibri"/>
            </a:endParaRPr>
          </a:p>
        </p:txBody>
      </p:sp>
      <p:sp>
        <p:nvSpPr>
          <p:cNvPr id="16" name="Google Shape;16;p8"/>
          <p:cNvSpPr txBox="1"/>
          <p:nvPr>
            <p:ph idx="12" type="sldNum"/>
          </p:nvPr>
        </p:nvSpPr>
        <p:spPr>
          <a:xfrm>
            <a:off x="11064240" y="6446520"/>
            <a:ext cx="54864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3"/>
                </a:solidFill>
                <a:latin typeface="Calibri"/>
                <a:ea typeface="Calibri"/>
                <a:cs typeface="Calibri"/>
                <a:sym typeface="Calibri"/>
              </a:defRPr>
            </a:lvl1pPr>
            <a:lvl2pPr indent="0" lvl="1" marL="0" marR="0" algn="r">
              <a:spcBef>
                <a:spcPts val="0"/>
              </a:spcBef>
              <a:buNone/>
              <a:defRPr b="0" i="0" sz="1000" u="none" cap="none" strike="noStrike">
                <a:solidFill>
                  <a:schemeClr val="accent3"/>
                </a:solidFill>
                <a:latin typeface="Calibri"/>
                <a:ea typeface="Calibri"/>
                <a:cs typeface="Calibri"/>
                <a:sym typeface="Calibri"/>
              </a:defRPr>
            </a:lvl2pPr>
            <a:lvl3pPr indent="0" lvl="2" marL="0" marR="0" algn="r">
              <a:spcBef>
                <a:spcPts val="0"/>
              </a:spcBef>
              <a:buNone/>
              <a:defRPr b="0" i="0" sz="1000" u="none" cap="none" strike="noStrike">
                <a:solidFill>
                  <a:schemeClr val="accent3"/>
                </a:solidFill>
                <a:latin typeface="Calibri"/>
                <a:ea typeface="Calibri"/>
                <a:cs typeface="Calibri"/>
                <a:sym typeface="Calibri"/>
              </a:defRPr>
            </a:lvl3pPr>
            <a:lvl4pPr indent="0" lvl="3" marL="0" marR="0" algn="r">
              <a:spcBef>
                <a:spcPts val="0"/>
              </a:spcBef>
              <a:buNone/>
              <a:defRPr b="0" i="0" sz="1000" u="none" cap="none" strike="noStrike">
                <a:solidFill>
                  <a:schemeClr val="accent3"/>
                </a:solidFill>
                <a:latin typeface="Calibri"/>
                <a:ea typeface="Calibri"/>
                <a:cs typeface="Calibri"/>
                <a:sym typeface="Calibri"/>
              </a:defRPr>
            </a:lvl4pPr>
            <a:lvl5pPr indent="0" lvl="4" marL="0" marR="0" algn="r">
              <a:spcBef>
                <a:spcPts val="0"/>
              </a:spcBef>
              <a:buNone/>
              <a:defRPr b="0" i="0" sz="1000" u="none" cap="none" strike="noStrike">
                <a:solidFill>
                  <a:schemeClr val="accent3"/>
                </a:solidFill>
                <a:latin typeface="Calibri"/>
                <a:ea typeface="Calibri"/>
                <a:cs typeface="Calibri"/>
                <a:sym typeface="Calibri"/>
              </a:defRPr>
            </a:lvl5pPr>
            <a:lvl6pPr indent="0" lvl="5" marL="0" marR="0" algn="r">
              <a:spcBef>
                <a:spcPts val="0"/>
              </a:spcBef>
              <a:buNone/>
              <a:defRPr b="0" i="0" sz="1000" u="none" cap="none" strike="noStrike">
                <a:solidFill>
                  <a:schemeClr val="accent3"/>
                </a:solidFill>
                <a:latin typeface="Calibri"/>
                <a:ea typeface="Calibri"/>
                <a:cs typeface="Calibri"/>
                <a:sym typeface="Calibri"/>
              </a:defRPr>
            </a:lvl6pPr>
            <a:lvl7pPr indent="0" lvl="6" marL="0" marR="0" algn="r">
              <a:spcBef>
                <a:spcPts val="0"/>
              </a:spcBef>
              <a:buNone/>
              <a:defRPr b="0" i="0" sz="1000" u="none" cap="none" strike="noStrike">
                <a:solidFill>
                  <a:schemeClr val="accent3"/>
                </a:solidFill>
                <a:latin typeface="Calibri"/>
                <a:ea typeface="Calibri"/>
                <a:cs typeface="Calibri"/>
                <a:sym typeface="Calibri"/>
              </a:defRPr>
            </a:lvl7pPr>
            <a:lvl8pPr indent="0" lvl="7" marL="0" marR="0" algn="r">
              <a:spcBef>
                <a:spcPts val="0"/>
              </a:spcBef>
              <a:buNone/>
              <a:defRPr b="0" i="0" sz="1000" u="none" cap="none" strike="noStrike">
                <a:solidFill>
                  <a:schemeClr val="accent3"/>
                </a:solidFill>
                <a:latin typeface="Calibri"/>
                <a:ea typeface="Calibri"/>
                <a:cs typeface="Calibri"/>
                <a:sym typeface="Calibri"/>
              </a:defRPr>
            </a:lvl8pPr>
            <a:lvl9pPr indent="0" lvl="8" marL="0" marR="0" algn="r">
              <a:spcBef>
                <a:spcPts val="0"/>
              </a:spcBef>
              <a:buNone/>
              <a:defRPr b="0" i="0" sz="1000" u="none" cap="none" strike="noStrike">
                <a:solidFill>
                  <a:schemeClr val="accent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6"/>
          <p:cNvSpPr txBox="1"/>
          <p:nvPr>
            <p:ph idx="12" type="sldNum"/>
          </p:nvPr>
        </p:nvSpPr>
        <p:spPr>
          <a:xfrm>
            <a:off x="11064240" y="6446520"/>
            <a:ext cx="54864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chemeClr val="accent3"/>
                </a:solidFill>
                <a:latin typeface="Calibri"/>
                <a:ea typeface="Calibri"/>
                <a:cs typeface="Calibri"/>
                <a:sym typeface="Calibri"/>
              </a:defRPr>
            </a:lvl1pPr>
            <a:lvl2pPr indent="0" lvl="1" marL="0" marR="0" rtl="0" algn="r">
              <a:spcBef>
                <a:spcPts val="0"/>
              </a:spcBef>
              <a:buNone/>
              <a:defRPr b="0" i="0" sz="1000" u="none" cap="none" strike="noStrike">
                <a:solidFill>
                  <a:schemeClr val="accent3"/>
                </a:solidFill>
                <a:latin typeface="Calibri"/>
                <a:ea typeface="Calibri"/>
                <a:cs typeface="Calibri"/>
                <a:sym typeface="Calibri"/>
              </a:defRPr>
            </a:lvl2pPr>
            <a:lvl3pPr indent="0" lvl="2" marL="0" marR="0" rtl="0" algn="r">
              <a:spcBef>
                <a:spcPts val="0"/>
              </a:spcBef>
              <a:buNone/>
              <a:defRPr b="0" i="0" sz="1000" u="none" cap="none" strike="noStrike">
                <a:solidFill>
                  <a:schemeClr val="accent3"/>
                </a:solidFill>
                <a:latin typeface="Calibri"/>
                <a:ea typeface="Calibri"/>
                <a:cs typeface="Calibri"/>
                <a:sym typeface="Calibri"/>
              </a:defRPr>
            </a:lvl3pPr>
            <a:lvl4pPr indent="0" lvl="3" marL="0" marR="0" rtl="0" algn="r">
              <a:spcBef>
                <a:spcPts val="0"/>
              </a:spcBef>
              <a:buNone/>
              <a:defRPr b="0" i="0" sz="1000" u="none" cap="none" strike="noStrike">
                <a:solidFill>
                  <a:schemeClr val="accent3"/>
                </a:solidFill>
                <a:latin typeface="Calibri"/>
                <a:ea typeface="Calibri"/>
                <a:cs typeface="Calibri"/>
                <a:sym typeface="Calibri"/>
              </a:defRPr>
            </a:lvl4pPr>
            <a:lvl5pPr indent="0" lvl="4" marL="0" marR="0" rtl="0" algn="r">
              <a:spcBef>
                <a:spcPts val="0"/>
              </a:spcBef>
              <a:buNone/>
              <a:defRPr b="0" i="0" sz="1000" u="none" cap="none" strike="noStrike">
                <a:solidFill>
                  <a:schemeClr val="accent3"/>
                </a:solidFill>
                <a:latin typeface="Calibri"/>
                <a:ea typeface="Calibri"/>
                <a:cs typeface="Calibri"/>
                <a:sym typeface="Calibri"/>
              </a:defRPr>
            </a:lvl5pPr>
            <a:lvl6pPr indent="0" lvl="5" marL="0" marR="0" rtl="0" algn="r">
              <a:spcBef>
                <a:spcPts val="0"/>
              </a:spcBef>
              <a:buNone/>
              <a:defRPr b="0" i="0" sz="1000" u="none" cap="none" strike="noStrike">
                <a:solidFill>
                  <a:schemeClr val="accent3"/>
                </a:solidFill>
                <a:latin typeface="Calibri"/>
                <a:ea typeface="Calibri"/>
                <a:cs typeface="Calibri"/>
                <a:sym typeface="Calibri"/>
              </a:defRPr>
            </a:lvl6pPr>
            <a:lvl7pPr indent="0" lvl="6" marL="0" marR="0" rtl="0" algn="r">
              <a:spcBef>
                <a:spcPts val="0"/>
              </a:spcBef>
              <a:buNone/>
              <a:defRPr b="0" i="0" sz="1000" u="none" cap="none" strike="noStrike">
                <a:solidFill>
                  <a:schemeClr val="accent3"/>
                </a:solidFill>
                <a:latin typeface="Calibri"/>
                <a:ea typeface="Calibri"/>
                <a:cs typeface="Calibri"/>
                <a:sym typeface="Calibri"/>
              </a:defRPr>
            </a:lvl7pPr>
            <a:lvl8pPr indent="0" lvl="7" marL="0" marR="0" rtl="0" algn="r">
              <a:spcBef>
                <a:spcPts val="0"/>
              </a:spcBef>
              <a:buNone/>
              <a:defRPr b="0" i="0" sz="1000" u="none" cap="none" strike="noStrike">
                <a:solidFill>
                  <a:schemeClr val="accent3"/>
                </a:solidFill>
                <a:latin typeface="Calibri"/>
                <a:ea typeface="Calibri"/>
                <a:cs typeface="Calibri"/>
                <a:sym typeface="Calibri"/>
              </a:defRPr>
            </a:lvl8pPr>
            <a:lvl9pPr indent="0" lvl="8" marL="0" marR="0" rtl="0" algn="r">
              <a:spcBef>
                <a:spcPts val="0"/>
              </a:spcBef>
              <a:buNone/>
              <a:defRPr b="0" i="0" sz="1000" u="none" cap="none" strike="noStrike">
                <a:solidFill>
                  <a:schemeClr val="accent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143durga/AI-Research-Evidence-Analyze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github.com/143durga/AI-Research-Evidence-Analyzer"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1"/>
          <p:cNvSpPr txBox="1"/>
          <p:nvPr/>
        </p:nvSpPr>
        <p:spPr>
          <a:xfrm>
            <a:off x="640080" y="914400"/>
            <a:ext cx="56692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1" i="0" lang="en-US" spc="200" sz="1200" u="none" cap="none" strike="noStrike">
                <a:solidFill>
                  <a:schemeClr val="accent6"/>
                </a:solidFill>
                <a:latin typeface="Calibri"/>
                <a:ea typeface="Calibri"/>
                <a:cs typeface="Calibri"/>
                <a:sym typeface="Calibri"/>
              </a:rPr>
              <a:t>LOCAL RAG PROTOTYPE  ·  RESEARCH PAPER Q&amp;A</a:t>
            </a:r>
            <a:endParaRPr b="0" i="0" sz="1200" u="none" cap="none" strike="noStrike">
              <a:solidFill>
                <a:schemeClr val="dk1"/>
              </a:solidFill>
              <a:latin typeface="Calibri"/>
              <a:ea typeface="Calibri"/>
              <a:cs typeface="Calibri"/>
              <a:sym typeface="Calibri"/>
            </a:endParaRPr>
          </a:p>
        </p:txBody>
      </p:sp>
      <p:sp>
        <p:nvSpPr>
          <p:cNvPr id="24" name="Google Shape;24;p1"/>
          <p:cNvSpPr txBox="1"/>
          <p:nvPr>
            <p:ph type="title"/>
          </p:nvPr>
        </p:nvSpPr>
        <p:spPr>
          <a:xfrm>
            <a:off x="640080" y="1417320"/>
            <a:ext cx="5669280" cy="1463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4400"/>
              <a:buFont typeface="Cambria"/>
              <a:buNone/>
            </a:pPr>
            <a:r>
              <a:rPr b="1" lang="en-US" sz="4400">
                <a:solidFill>
                  <a:schemeClr val="lt1"/>
                </a:solidFill>
              </a:rPr>
              <a:t>AI Research Evidence Analyzer</a:t>
            </a:r>
            <a:endParaRPr sz="4400"/>
          </a:p>
        </p:txBody>
      </p:sp>
      <p:sp>
        <p:nvSpPr>
          <p:cNvPr id="25" name="Google Shape;25;p1"/>
          <p:cNvSpPr txBox="1"/>
          <p:nvPr/>
        </p:nvSpPr>
        <p:spPr>
          <a:xfrm>
            <a:off x="640080" y="3017520"/>
            <a:ext cx="56692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2000"/>
              <a:buFont typeface="Calibri"/>
              <a:buNone/>
            </a:pPr>
            <a:r>
              <a:rPr b="0" i="0" lang="en-US" sz="2000" u="none" cap="none" strike="noStrike">
                <a:solidFill>
                  <a:schemeClr val="lt2"/>
                </a:solidFill>
                <a:latin typeface="Calibri"/>
                <a:ea typeface="Calibri"/>
                <a:cs typeface="Calibri"/>
                <a:sym typeface="Calibri"/>
              </a:rPr>
              <a:t>A Local, Evidence-Grounded RAG Prototype for Research Papers</a:t>
            </a:r>
            <a:endParaRPr b="0" i="0" sz="2000" u="none" cap="none" strike="noStrike">
              <a:solidFill>
                <a:schemeClr val="dk1"/>
              </a:solidFill>
              <a:latin typeface="Calibri"/>
              <a:ea typeface="Calibri"/>
              <a:cs typeface="Calibri"/>
              <a:sym typeface="Calibri"/>
            </a:endParaRPr>
          </a:p>
        </p:txBody>
      </p:sp>
      <p:sp>
        <p:nvSpPr>
          <p:cNvPr id="26" name="Google Shape;26;p1"/>
          <p:cNvSpPr txBox="1"/>
          <p:nvPr/>
        </p:nvSpPr>
        <p:spPr>
          <a:xfrm>
            <a:off x="640080" y="4251960"/>
            <a:ext cx="56692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000"/>
              <a:buFont typeface="Calibri"/>
              <a:buNone/>
            </a:pPr>
            <a:r>
              <a:rPr b="1" i="0" lang="en-US" sz="2000" u="none" cap="none" strike="noStrike">
                <a:solidFill>
                  <a:schemeClr val="lt1"/>
                </a:solidFill>
                <a:latin typeface="Calibri"/>
                <a:ea typeface="Calibri"/>
                <a:cs typeface="Calibri"/>
                <a:sym typeface="Calibri"/>
              </a:rPr>
              <a:t>Durga Bhavani Pathina</a:t>
            </a:r>
            <a:endParaRPr b="0" i="0" sz="2000" u="none" cap="none" strike="noStrike">
              <a:solidFill>
                <a:schemeClr val="dk1"/>
              </a:solidFill>
              <a:latin typeface="Calibri"/>
              <a:ea typeface="Calibri"/>
              <a:cs typeface="Calibri"/>
              <a:sym typeface="Calibri"/>
            </a:endParaRPr>
          </a:p>
        </p:txBody>
      </p:sp>
      <p:sp>
        <p:nvSpPr>
          <p:cNvPr id="27" name="Google Shape;27;p1"/>
          <p:cNvSpPr txBox="1"/>
          <p:nvPr/>
        </p:nvSpPr>
        <p:spPr>
          <a:xfrm>
            <a:off x="640080" y="4681728"/>
            <a:ext cx="5669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400"/>
              <a:buFont typeface="Calibri"/>
              <a:buNone/>
            </a:pPr>
            <a:r>
              <a:rPr b="0" i="0" lang="en-US" sz="1400" u="none" cap="none" strike="noStrike">
                <a:solidFill>
                  <a:schemeClr val="lt2"/>
                </a:solidFill>
                <a:latin typeface="Calibri"/>
                <a:ea typeface="Calibri"/>
                <a:cs typeface="Calibri"/>
                <a:sym typeface="Calibri"/>
              </a:rPr>
              <a:t>Prepared for University of North Florida research faculty</a:t>
            </a:r>
            <a:endParaRPr b="0" i="0" sz="1400" u="none" cap="none" strike="noStrike">
              <a:solidFill>
                <a:schemeClr val="dk1"/>
              </a:solidFill>
              <a:latin typeface="Calibri"/>
              <a:ea typeface="Calibri"/>
              <a:cs typeface="Calibri"/>
              <a:sym typeface="Calibri"/>
            </a:endParaRPr>
          </a:p>
        </p:txBody>
      </p:sp>
      <p:sp>
        <p:nvSpPr>
          <p:cNvPr id="28" name="Google Shape;28;p1"/>
          <p:cNvSpPr txBox="1"/>
          <p:nvPr/>
        </p:nvSpPr>
        <p:spPr>
          <a:xfrm>
            <a:off x="640080" y="6172200"/>
            <a:ext cx="56692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0" i="0" lang="en-US" sz="1100" u="sng" cap="none" strike="noStrike">
                <a:solidFill>
                  <a:schemeClr val="accent6"/>
                </a:solidFill>
                <a:latin typeface="Calibri"/>
                <a:ea typeface="Calibri"/>
                <a:cs typeface="Calibri"/>
                <a:sym typeface="Calibri"/>
                <a:hlinkClick r:id="rId3">
                  <a:extLst>
                    <a:ext uri="{A12FA001-AC4F-418D-AE19-62706E023703}">
                      <ahyp:hlinkClr val="tx"/>
                    </a:ext>
                  </a:extLst>
                </a:hlinkClick>
              </a:rPr>
              <a:t>https://github.com/143durga/AI-Research-Evidence-Analyzer</a:t>
            </a:r>
            <a:endParaRPr b="0" i="0" sz="1100" u="none" cap="none" strike="noStrike">
              <a:solidFill>
                <a:schemeClr val="dk1"/>
              </a:solidFill>
              <a:latin typeface="Calibri"/>
              <a:ea typeface="Calibri"/>
              <a:cs typeface="Calibri"/>
              <a:sym typeface="Calibri"/>
            </a:endParaRPr>
          </a:p>
        </p:txBody>
      </p:sp>
      <p:sp>
        <p:nvSpPr>
          <p:cNvPr id="29" name="Google Shape;29;p1"/>
          <p:cNvSpPr/>
          <p:nvPr/>
        </p:nvSpPr>
        <p:spPr>
          <a:xfrm>
            <a:off x="6949440" y="914400"/>
            <a:ext cx="4663440" cy="2148840"/>
          </a:xfrm>
          <a:prstGeom prst="roundRect">
            <a:avLst>
              <a:gd fmla="val 3404" name="adj"/>
            </a:avLst>
          </a:prstGeom>
          <a:solidFill>
            <a:schemeClr val="lt1">
              <a:alpha val="1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txBox="1"/>
          <p:nvPr/>
        </p:nvSpPr>
        <p:spPr>
          <a:xfrm>
            <a:off x="7223760" y="1143000"/>
            <a:ext cx="41148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The practical problem</a:t>
            </a:r>
            <a:endParaRPr b="0" i="0" sz="1800" u="none" cap="none" strike="noStrike">
              <a:solidFill>
                <a:schemeClr val="dk1"/>
              </a:solidFill>
              <a:latin typeface="Calibri"/>
              <a:ea typeface="Calibri"/>
              <a:cs typeface="Calibri"/>
              <a:sym typeface="Calibri"/>
            </a:endParaRPr>
          </a:p>
        </p:txBody>
      </p:sp>
      <p:sp>
        <p:nvSpPr>
          <p:cNvPr id="31" name="Google Shape;31;p1"/>
          <p:cNvSpPr txBox="1"/>
          <p:nvPr/>
        </p:nvSpPr>
        <p:spPr>
          <a:xfrm>
            <a:off x="7223760" y="1572768"/>
            <a:ext cx="41148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600"/>
              <a:buFont typeface="Calibri"/>
              <a:buNone/>
            </a:pPr>
            <a:r>
              <a:rPr b="0" i="0" lang="en-US" sz="1600" u="none" cap="none" strike="noStrike">
                <a:solidFill>
                  <a:schemeClr val="lt2"/>
                </a:solidFill>
                <a:latin typeface="Calibri"/>
                <a:ea typeface="Calibri"/>
                <a:cs typeface="Calibri"/>
                <a:sym typeface="Calibri"/>
              </a:rPr>
              <a:t>Research papers are long. Readers must locate the relevant evidence and check whether a generated answer is actually supported by the source.</a:t>
            </a:r>
            <a:endParaRPr b="0" i="0" sz="1600" u="none" cap="none" strike="noStrike">
              <a:solidFill>
                <a:schemeClr val="dk1"/>
              </a:solidFill>
              <a:latin typeface="Calibri"/>
              <a:ea typeface="Calibri"/>
              <a:cs typeface="Calibri"/>
              <a:sym typeface="Calibri"/>
            </a:endParaRPr>
          </a:p>
        </p:txBody>
      </p:sp>
      <p:sp>
        <p:nvSpPr>
          <p:cNvPr id="32" name="Google Shape;32;p1"/>
          <p:cNvSpPr/>
          <p:nvPr/>
        </p:nvSpPr>
        <p:spPr>
          <a:xfrm>
            <a:off x="6949440" y="3291840"/>
            <a:ext cx="4663440" cy="1783080"/>
          </a:xfrm>
          <a:prstGeom prst="roundRect">
            <a:avLst>
              <a:gd fmla="val 4103" name="adj"/>
            </a:avLst>
          </a:prstGeom>
          <a:solidFill>
            <a:schemeClr val="lt1">
              <a:alpha val="1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txBox="1"/>
          <p:nvPr/>
        </p:nvSpPr>
        <p:spPr>
          <a:xfrm>
            <a:off x="7223760" y="3520440"/>
            <a:ext cx="41148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Objective</a:t>
            </a:r>
            <a:endParaRPr b="0" i="0" sz="1800" u="none" cap="none" strike="noStrike">
              <a:solidFill>
                <a:schemeClr val="dk1"/>
              </a:solidFill>
              <a:latin typeface="Calibri"/>
              <a:ea typeface="Calibri"/>
              <a:cs typeface="Calibri"/>
              <a:sym typeface="Calibri"/>
            </a:endParaRPr>
          </a:p>
        </p:txBody>
      </p:sp>
      <p:sp>
        <p:nvSpPr>
          <p:cNvPr id="34" name="Google Shape;34;p1"/>
          <p:cNvSpPr txBox="1"/>
          <p:nvPr/>
        </p:nvSpPr>
        <p:spPr>
          <a:xfrm>
            <a:off x="7223760" y="3931920"/>
            <a:ext cx="41148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600"/>
              <a:buFont typeface="Calibri"/>
              <a:buNone/>
            </a:pPr>
            <a:r>
              <a:rPr b="0" i="0" lang="en-US" sz="1600" u="none" cap="none" strike="noStrike">
                <a:solidFill>
                  <a:schemeClr val="lt2"/>
                </a:solidFill>
                <a:latin typeface="Calibri"/>
                <a:ea typeface="Calibri"/>
                <a:cs typeface="Calibri"/>
                <a:sym typeface="Calibri"/>
              </a:rPr>
              <a:t>Build a local prototype that retrieves relevant paper passages and produces traceable, evidence-grounded answers.</a:t>
            </a:r>
            <a:endParaRPr b="0" i="0" sz="1600" u="none" cap="none" strike="noStrike">
              <a:solidFill>
                <a:schemeClr val="dk1"/>
              </a:solidFill>
              <a:latin typeface="Calibri"/>
              <a:ea typeface="Calibri"/>
              <a:cs typeface="Calibri"/>
              <a:sym typeface="Calibri"/>
            </a:endParaRPr>
          </a:p>
        </p:txBody>
      </p:sp>
      <p:sp>
        <p:nvSpPr>
          <p:cNvPr id="35" name="Google Shape;35;p1"/>
          <p:cNvSpPr/>
          <p:nvPr/>
        </p:nvSpPr>
        <p:spPr>
          <a:xfrm>
            <a:off x="6949440" y="5349240"/>
            <a:ext cx="1188720" cy="777240"/>
          </a:xfrm>
          <a:prstGeom prst="roundRect">
            <a:avLst>
              <a:gd fmla="val 9412" name="adj"/>
            </a:avLst>
          </a:prstGeom>
          <a:solidFill>
            <a:schemeClr val="accent1"/>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Question</a:t>
            </a:r>
            <a:endParaRPr b="0" i="0" sz="1200" u="none" cap="none" strike="noStrike">
              <a:solidFill>
                <a:schemeClr val="dk1"/>
              </a:solidFill>
              <a:latin typeface="Calibri"/>
              <a:ea typeface="Calibri"/>
              <a:cs typeface="Calibri"/>
              <a:sym typeface="Calibri"/>
            </a:endParaRPr>
          </a:p>
        </p:txBody>
      </p:sp>
      <p:sp>
        <p:nvSpPr>
          <p:cNvPr id="36" name="Google Shape;36;p1"/>
          <p:cNvSpPr/>
          <p:nvPr/>
        </p:nvSpPr>
        <p:spPr>
          <a:xfrm>
            <a:off x="8412480" y="5349240"/>
            <a:ext cx="1554480" cy="777240"/>
          </a:xfrm>
          <a:prstGeom prst="roundRect">
            <a:avLst>
              <a:gd fmla="val 9412" name="adj"/>
            </a:avLst>
          </a:prstGeom>
          <a:solidFill>
            <a:schemeClr val="accent1"/>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Retrieved passages</a:t>
            </a:r>
            <a:endParaRPr b="0" i="0" sz="1200" u="none" cap="none" strike="noStrike">
              <a:solidFill>
                <a:schemeClr val="dk1"/>
              </a:solidFill>
              <a:latin typeface="Calibri"/>
              <a:ea typeface="Calibri"/>
              <a:cs typeface="Calibri"/>
              <a:sym typeface="Calibri"/>
            </a:endParaRPr>
          </a:p>
        </p:txBody>
      </p:sp>
      <p:sp>
        <p:nvSpPr>
          <p:cNvPr id="37" name="Google Shape;37;p1"/>
          <p:cNvSpPr/>
          <p:nvPr/>
        </p:nvSpPr>
        <p:spPr>
          <a:xfrm>
            <a:off x="10241280" y="5349240"/>
            <a:ext cx="1371600" cy="777240"/>
          </a:xfrm>
          <a:prstGeom prst="roundRect">
            <a:avLst>
              <a:gd fmla="val 9412" name="adj"/>
            </a:avLst>
          </a:prstGeom>
          <a:solidFill>
            <a:schemeClr val="accent1"/>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Cited answer or abstention</a:t>
            </a:r>
            <a:endParaRPr b="0" i="0" sz="1200" u="none" cap="none" strike="noStrike">
              <a:solidFill>
                <a:schemeClr val="dk1"/>
              </a:solidFill>
              <a:latin typeface="Calibri"/>
              <a:ea typeface="Calibri"/>
              <a:cs typeface="Calibri"/>
              <a:sym typeface="Calibri"/>
            </a:endParaRPr>
          </a:p>
        </p:txBody>
      </p:sp>
      <p:cxnSp>
        <p:nvCxnSpPr>
          <p:cNvPr id="38" name="Google Shape;38;p1"/>
          <p:cNvCxnSpPr/>
          <p:nvPr/>
        </p:nvCxnSpPr>
        <p:spPr>
          <a:xfrm>
            <a:off x="8138160" y="5737860"/>
            <a:ext cx="274320" cy="0"/>
          </a:xfrm>
          <a:prstGeom prst="straightConnector1">
            <a:avLst/>
          </a:prstGeom>
          <a:noFill/>
          <a:ln cap="flat" cmpd="sng" w="22225">
            <a:solidFill>
              <a:schemeClr val="lt2"/>
            </a:solidFill>
            <a:prstDash val="solid"/>
            <a:round/>
            <a:headEnd len="sm" w="sm" type="none"/>
            <a:tailEnd len="med" w="med" type="triangle"/>
          </a:ln>
        </p:spPr>
      </p:cxnSp>
      <p:cxnSp>
        <p:nvCxnSpPr>
          <p:cNvPr id="39" name="Google Shape;39;p1"/>
          <p:cNvCxnSpPr/>
          <p:nvPr/>
        </p:nvCxnSpPr>
        <p:spPr>
          <a:xfrm>
            <a:off x="9966960" y="5737860"/>
            <a:ext cx="274320" cy="0"/>
          </a:xfrm>
          <a:prstGeom prst="straightConnector1">
            <a:avLst/>
          </a:prstGeom>
          <a:noFill/>
          <a:ln cap="flat" cmpd="sng" w="22225">
            <a:solidFill>
              <a:schemeClr val="lt2"/>
            </a:solidFill>
            <a:prstDash val="solid"/>
            <a:round/>
            <a:headEnd len="sm" w="sm"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2"/>
          <p:cNvSpPr txBox="1"/>
          <p:nvPr>
            <p:ph type="title"/>
          </p:nvPr>
        </p:nvSpPr>
        <p:spPr>
          <a:xfrm>
            <a:off x="548640" y="320040"/>
            <a:ext cx="1106424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Cambria"/>
              <a:buNone/>
            </a:pPr>
            <a:r>
              <a:rPr b="1" lang="en-US" sz="3400">
                <a:solidFill>
                  <a:schemeClr val="dk2"/>
                </a:solidFill>
              </a:rPr>
              <a:t>System Architecture</a:t>
            </a:r>
            <a:endParaRPr sz="3400"/>
          </a:p>
        </p:txBody>
      </p:sp>
      <p:sp>
        <p:nvSpPr>
          <p:cNvPr id="46" name="Google Shape;46;p2"/>
          <p:cNvSpPr txBox="1"/>
          <p:nvPr/>
        </p:nvSpPr>
        <p:spPr>
          <a:xfrm>
            <a:off x="548640" y="1188720"/>
            <a:ext cx="54864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100"/>
              <a:buFont typeface="Calibri"/>
              <a:buNone/>
            </a:pPr>
            <a:r>
              <a:rPr b="1" i="0" lang="en-US" spc="100" sz="1100" u="none" cap="none" strike="noStrike">
                <a:solidFill>
                  <a:schemeClr val="accent3"/>
                </a:solidFill>
                <a:latin typeface="Calibri"/>
                <a:ea typeface="Calibri"/>
                <a:cs typeface="Calibri"/>
                <a:sym typeface="Calibri"/>
              </a:rPr>
              <a:t>INDEXING  ·  ONCE PER UPLOADED PAPER</a:t>
            </a:r>
            <a:endParaRPr b="0" i="0" sz="1100" u="none" cap="none" strike="noStrike">
              <a:solidFill>
                <a:schemeClr val="dk1"/>
              </a:solidFill>
              <a:latin typeface="Calibri"/>
              <a:ea typeface="Calibri"/>
              <a:cs typeface="Calibri"/>
              <a:sym typeface="Calibri"/>
            </a:endParaRPr>
          </a:p>
        </p:txBody>
      </p:sp>
      <p:sp>
        <p:nvSpPr>
          <p:cNvPr id="47" name="Google Shape;47;p2"/>
          <p:cNvSpPr/>
          <p:nvPr/>
        </p:nvSpPr>
        <p:spPr>
          <a:xfrm>
            <a:off x="548640" y="1463040"/>
            <a:ext cx="1920240" cy="960120"/>
          </a:xfrm>
          <a:prstGeom prst="roundRect">
            <a:avLst>
              <a:gd fmla="val 7619" name="adj"/>
            </a:avLst>
          </a:prstGeom>
          <a:solidFill>
            <a:schemeClr val="lt2"/>
          </a:solidFill>
          <a:ln cap="flat" cmpd="sng" w="19050">
            <a:solidFill>
              <a:schemeClr val="accent1"/>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Research Paper PDF</a:t>
            </a:r>
            <a:endParaRPr b="0" i="0" sz="1400" u="none" cap="none" strike="noStrike">
              <a:solidFill>
                <a:schemeClr val="dk1"/>
              </a:solidFill>
              <a:latin typeface="Calibri"/>
              <a:ea typeface="Calibri"/>
              <a:cs typeface="Calibri"/>
              <a:sym typeface="Calibri"/>
            </a:endParaRPr>
          </a:p>
        </p:txBody>
      </p:sp>
      <p:sp>
        <p:nvSpPr>
          <p:cNvPr id="48" name="Google Shape;48;p2"/>
          <p:cNvSpPr/>
          <p:nvPr/>
        </p:nvSpPr>
        <p:spPr>
          <a:xfrm>
            <a:off x="2834640" y="1463040"/>
            <a:ext cx="1920240" cy="960120"/>
          </a:xfrm>
          <a:prstGeom prst="roundRect">
            <a:avLst>
              <a:gd fmla="val 7619" name="adj"/>
            </a:avLst>
          </a:prstGeom>
          <a:solidFill>
            <a:schemeClr val="lt2"/>
          </a:solidFill>
          <a:ln cap="flat" cmpd="sng" w="19050">
            <a:solidFill>
              <a:schemeClr val="accent1"/>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PDF Text Extraction</a:t>
            </a:r>
            <a:endParaRPr b="0" i="0" sz="1400" u="none" cap="none" strike="noStrike">
              <a:solidFill>
                <a:schemeClr val="dk1"/>
              </a:solidFill>
              <a:latin typeface="Calibri"/>
              <a:ea typeface="Calibri"/>
              <a:cs typeface="Calibri"/>
              <a:sym typeface="Calibri"/>
            </a:endParaRPr>
          </a:p>
        </p:txBody>
      </p:sp>
      <p:sp>
        <p:nvSpPr>
          <p:cNvPr id="49" name="Google Shape;49;p2"/>
          <p:cNvSpPr/>
          <p:nvPr/>
        </p:nvSpPr>
        <p:spPr>
          <a:xfrm>
            <a:off x="5120640" y="1463040"/>
            <a:ext cx="1920240" cy="960120"/>
          </a:xfrm>
          <a:prstGeom prst="roundRect">
            <a:avLst>
              <a:gd fmla="val 7619" name="adj"/>
            </a:avLst>
          </a:prstGeom>
          <a:solidFill>
            <a:schemeClr val="lt2"/>
          </a:solidFill>
          <a:ln cap="flat" cmpd="sng" w="19050">
            <a:solidFill>
              <a:schemeClr val="accent1"/>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Text Chunking</a:t>
            </a:r>
            <a:endParaRPr b="0" i="0" sz="1400" u="none" cap="none" strike="noStrike">
              <a:solidFill>
                <a:schemeClr val="dk1"/>
              </a:solidFill>
              <a:latin typeface="Calibri"/>
              <a:ea typeface="Calibri"/>
              <a:cs typeface="Calibri"/>
              <a:sym typeface="Calibri"/>
            </a:endParaRPr>
          </a:p>
        </p:txBody>
      </p:sp>
      <p:sp>
        <p:nvSpPr>
          <p:cNvPr id="50" name="Google Shape;50;p2"/>
          <p:cNvSpPr/>
          <p:nvPr/>
        </p:nvSpPr>
        <p:spPr>
          <a:xfrm>
            <a:off x="7406640" y="1463040"/>
            <a:ext cx="1920240" cy="960120"/>
          </a:xfrm>
          <a:prstGeom prst="roundRect">
            <a:avLst>
              <a:gd fmla="val 7619" name="adj"/>
            </a:avLst>
          </a:prstGeom>
          <a:solidFill>
            <a:schemeClr val="lt2"/>
          </a:solidFill>
          <a:ln cap="flat" cmpd="sng" w="19050">
            <a:solidFill>
              <a:schemeClr val="accent1"/>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Local Embeddings</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ONNX-based</a:t>
            </a:r>
            <a:endParaRPr b="0" i="0" sz="1400" u="none" cap="none" strike="noStrike">
              <a:solidFill>
                <a:schemeClr val="dk1"/>
              </a:solidFill>
              <a:latin typeface="Calibri"/>
              <a:ea typeface="Calibri"/>
              <a:cs typeface="Calibri"/>
              <a:sym typeface="Calibri"/>
            </a:endParaRPr>
          </a:p>
        </p:txBody>
      </p:sp>
      <p:sp>
        <p:nvSpPr>
          <p:cNvPr id="51" name="Google Shape;51;p2"/>
          <p:cNvSpPr/>
          <p:nvPr/>
        </p:nvSpPr>
        <p:spPr>
          <a:xfrm>
            <a:off x="9692640" y="1463040"/>
            <a:ext cx="1920240" cy="960120"/>
          </a:xfrm>
          <a:prstGeom prst="roundRect">
            <a:avLst>
              <a:gd fmla="val 7619" name="adj"/>
            </a:avLst>
          </a:prstGeom>
          <a:solidFill>
            <a:schemeClr val="lt2"/>
          </a:solidFill>
          <a:ln cap="flat" cmpd="sng" w="19050">
            <a:solidFill>
              <a:schemeClr val="accent1"/>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ChromaDB Vector Store</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stored in data/chroma</a:t>
            </a:r>
            <a:endParaRPr b="0" i="0" sz="1400" u="none" cap="none" strike="noStrike">
              <a:solidFill>
                <a:schemeClr val="dk1"/>
              </a:solidFill>
              <a:latin typeface="Calibri"/>
              <a:ea typeface="Calibri"/>
              <a:cs typeface="Calibri"/>
              <a:sym typeface="Calibri"/>
            </a:endParaRPr>
          </a:p>
        </p:txBody>
      </p:sp>
      <p:cxnSp>
        <p:nvCxnSpPr>
          <p:cNvPr id="52" name="Google Shape;52;p2"/>
          <p:cNvCxnSpPr/>
          <p:nvPr/>
        </p:nvCxnSpPr>
        <p:spPr>
          <a:xfrm>
            <a:off x="2468880" y="1943100"/>
            <a:ext cx="365760" cy="0"/>
          </a:xfrm>
          <a:prstGeom prst="straightConnector1">
            <a:avLst/>
          </a:prstGeom>
          <a:noFill/>
          <a:ln cap="flat" cmpd="sng" w="22225">
            <a:solidFill>
              <a:schemeClr val="accent3"/>
            </a:solidFill>
            <a:prstDash val="solid"/>
            <a:round/>
            <a:headEnd len="sm" w="sm" type="none"/>
            <a:tailEnd len="med" w="med" type="triangle"/>
          </a:ln>
        </p:spPr>
      </p:cxnSp>
      <p:cxnSp>
        <p:nvCxnSpPr>
          <p:cNvPr id="53" name="Google Shape;53;p2"/>
          <p:cNvCxnSpPr/>
          <p:nvPr/>
        </p:nvCxnSpPr>
        <p:spPr>
          <a:xfrm>
            <a:off x="4754880" y="1943100"/>
            <a:ext cx="365760" cy="0"/>
          </a:xfrm>
          <a:prstGeom prst="straightConnector1">
            <a:avLst/>
          </a:prstGeom>
          <a:noFill/>
          <a:ln cap="flat" cmpd="sng" w="22225">
            <a:solidFill>
              <a:schemeClr val="accent3"/>
            </a:solidFill>
            <a:prstDash val="solid"/>
            <a:round/>
            <a:headEnd len="sm" w="sm" type="none"/>
            <a:tailEnd len="med" w="med" type="triangle"/>
          </a:ln>
        </p:spPr>
      </p:cxnSp>
      <p:cxnSp>
        <p:nvCxnSpPr>
          <p:cNvPr id="54" name="Google Shape;54;p2"/>
          <p:cNvCxnSpPr/>
          <p:nvPr/>
        </p:nvCxnSpPr>
        <p:spPr>
          <a:xfrm>
            <a:off x="7040880" y="1943100"/>
            <a:ext cx="365760" cy="0"/>
          </a:xfrm>
          <a:prstGeom prst="straightConnector1">
            <a:avLst/>
          </a:prstGeom>
          <a:noFill/>
          <a:ln cap="flat" cmpd="sng" w="22225">
            <a:solidFill>
              <a:schemeClr val="accent3"/>
            </a:solidFill>
            <a:prstDash val="solid"/>
            <a:round/>
            <a:headEnd len="sm" w="sm" type="none"/>
            <a:tailEnd len="med" w="med" type="triangle"/>
          </a:ln>
        </p:spPr>
      </p:cxnSp>
      <p:cxnSp>
        <p:nvCxnSpPr>
          <p:cNvPr id="55" name="Google Shape;55;p2"/>
          <p:cNvCxnSpPr/>
          <p:nvPr/>
        </p:nvCxnSpPr>
        <p:spPr>
          <a:xfrm>
            <a:off x="9326880" y="1943100"/>
            <a:ext cx="365760" cy="0"/>
          </a:xfrm>
          <a:prstGeom prst="straightConnector1">
            <a:avLst/>
          </a:prstGeom>
          <a:noFill/>
          <a:ln cap="flat" cmpd="sng" w="22225">
            <a:solidFill>
              <a:schemeClr val="accent3"/>
            </a:solidFill>
            <a:prstDash val="solid"/>
            <a:round/>
            <a:headEnd len="sm" w="sm" type="none"/>
            <a:tailEnd len="med" w="med" type="triangle"/>
          </a:ln>
        </p:spPr>
      </p:cxnSp>
      <p:cxnSp>
        <p:nvCxnSpPr>
          <p:cNvPr id="56" name="Google Shape;56;p2"/>
          <p:cNvCxnSpPr/>
          <p:nvPr/>
        </p:nvCxnSpPr>
        <p:spPr>
          <a:xfrm>
            <a:off x="10652760" y="2423160"/>
            <a:ext cx="0" cy="502920"/>
          </a:xfrm>
          <a:prstGeom prst="straightConnector1">
            <a:avLst/>
          </a:prstGeom>
          <a:noFill/>
          <a:ln cap="flat" cmpd="sng" w="22225">
            <a:solidFill>
              <a:schemeClr val="accent3"/>
            </a:solidFill>
            <a:prstDash val="solid"/>
            <a:round/>
            <a:headEnd len="sm" w="sm" type="none"/>
            <a:tailEnd len="med" w="med" type="triangle"/>
          </a:ln>
        </p:spPr>
      </p:cxnSp>
      <p:sp>
        <p:nvSpPr>
          <p:cNvPr id="57" name="Google Shape;57;p2"/>
          <p:cNvSpPr txBox="1"/>
          <p:nvPr/>
        </p:nvSpPr>
        <p:spPr>
          <a:xfrm>
            <a:off x="5120640" y="2651760"/>
            <a:ext cx="4572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100"/>
              <a:buFont typeface="Calibri"/>
              <a:buNone/>
            </a:pPr>
            <a:r>
              <a:rPr b="1" i="0" lang="en-US" spc="100" sz="1100" u="none" cap="none" strike="noStrike">
                <a:solidFill>
                  <a:schemeClr val="accent3"/>
                </a:solidFill>
                <a:latin typeface="Calibri"/>
                <a:ea typeface="Calibri"/>
                <a:cs typeface="Calibri"/>
                <a:sym typeface="Calibri"/>
              </a:rPr>
              <a:t>QUESTION ANSWERING  ·  PER QUERY</a:t>
            </a:r>
            <a:endParaRPr b="0" i="0" sz="1100" u="none" cap="none" strike="noStrike">
              <a:solidFill>
                <a:schemeClr val="dk1"/>
              </a:solidFill>
              <a:latin typeface="Calibri"/>
              <a:ea typeface="Calibri"/>
              <a:cs typeface="Calibri"/>
              <a:sym typeface="Calibri"/>
            </a:endParaRPr>
          </a:p>
        </p:txBody>
      </p:sp>
      <p:sp>
        <p:nvSpPr>
          <p:cNvPr id="58" name="Google Shape;58;p2"/>
          <p:cNvSpPr/>
          <p:nvPr/>
        </p:nvSpPr>
        <p:spPr>
          <a:xfrm>
            <a:off x="9692640" y="2926080"/>
            <a:ext cx="1920240" cy="960120"/>
          </a:xfrm>
          <a:prstGeom prst="roundRect">
            <a:avLst>
              <a:gd fmla="val 7619" name="adj"/>
            </a:avLst>
          </a:prstGeom>
          <a:solidFill>
            <a:schemeClr val="lt2"/>
          </a:solidFill>
          <a:ln cap="flat" cmpd="sng" w="19050">
            <a:solidFill>
              <a:schemeClr val="accent1"/>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Similarity-Based Retrieval</a:t>
            </a:r>
            <a:endParaRPr b="0" i="0" sz="1400" u="none" cap="none" strike="noStrike">
              <a:solidFill>
                <a:schemeClr val="dk1"/>
              </a:solidFill>
              <a:latin typeface="Calibri"/>
              <a:ea typeface="Calibri"/>
              <a:cs typeface="Calibri"/>
              <a:sym typeface="Calibri"/>
            </a:endParaRPr>
          </a:p>
        </p:txBody>
      </p:sp>
      <p:sp>
        <p:nvSpPr>
          <p:cNvPr id="59" name="Google Shape;59;p2"/>
          <p:cNvSpPr/>
          <p:nvPr/>
        </p:nvSpPr>
        <p:spPr>
          <a:xfrm>
            <a:off x="7406640" y="2926080"/>
            <a:ext cx="1920240" cy="960120"/>
          </a:xfrm>
          <a:prstGeom prst="roundRect">
            <a:avLst>
              <a:gd fmla="val 7619" name="adj"/>
            </a:avLst>
          </a:prstGeom>
          <a:solidFill>
            <a:schemeClr val="lt2"/>
          </a:solidFill>
          <a:ln cap="flat" cmpd="sng" w="19050">
            <a:solidFill>
              <a:schemeClr val="accent1"/>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Local Qwen Model</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Qwen2.5-1.5B-Instruct Q4_K_M via llama.cpp</a:t>
            </a:r>
            <a:endParaRPr b="0" i="0" sz="1400" u="none" cap="none" strike="noStrike">
              <a:solidFill>
                <a:schemeClr val="dk1"/>
              </a:solidFill>
              <a:latin typeface="Calibri"/>
              <a:ea typeface="Calibri"/>
              <a:cs typeface="Calibri"/>
              <a:sym typeface="Calibri"/>
            </a:endParaRPr>
          </a:p>
        </p:txBody>
      </p:sp>
      <p:sp>
        <p:nvSpPr>
          <p:cNvPr id="60" name="Google Shape;60;p2"/>
          <p:cNvSpPr/>
          <p:nvPr/>
        </p:nvSpPr>
        <p:spPr>
          <a:xfrm>
            <a:off x="5120640" y="2926080"/>
            <a:ext cx="1920240" cy="960120"/>
          </a:xfrm>
          <a:prstGeom prst="roundRect">
            <a:avLst>
              <a:gd fmla="val 7619" name="adj"/>
            </a:avLst>
          </a:prstGeom>
          <a:solidFill>
            <a:schemeClr val="accent1"/>
          </a:solidFill>
          <a:ln>
            <a:noFill/>
          </a:ln>
        </p:spPr>
        <p:txBody>
          <a:bodyPr anchorCtr="0" anchor="ctr" bIns="750" lIns="750" spcFirstLastPara="1" rIns="750" wrap="square" tIns="75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Answer with Evidence Citations / Abstention</a:t>
            </a:r>
            <a:endParaRPr b="0" i="0" sz="1400" u="none" cap="none" strike="noStrike">
              <a:solidFill>
                <a:schemeClr val="dk1"/>
              </a:solidFill>
              <a:latin typeface="Calibri"/>
              <a:ea typeface="Calibri"/>
              <a:cs typeface="Calibri"/>
              <a:sym typeface="Calibri"/>
            </a:endParaRPr>
          </a:p>
        </p:txBody>
      </p:sp>
      <p:cxnSp>
        <p:nvCxnSpPr>
          <p:cNvPr id="61" name="Google Shape;61;p2"/>
          <p:cNvCxnSpPr/>
          <p:nvPr/>
        </p:nvCxnSpPr>
        <p:spPr>
          <a:xfrm>
            <a:off x="9326880" y="3406140"/>
            <a:ext cx="365760" cy="0"/>
          </a:xfrm>
          <a:prstGeom prst="straightConnector1">
            <a:avLst/>
          </a:prstGeom>
          <a:noFill/>
          <a:ln cap="flat" cmpd="sng" w="22225">
            <a:solidFill>
              <a:schemeClr val="accent3"/>
            </a:solidFill>
            <a:prstDash val="solid"/>
            <a:round/>
            <a:headEnd len="med" w="med" type="triangle"/>
            <a:tailEnd len="sm" w="sm" type="none"/>
          </a:ln>
        </p:spPr>
      </p:cxnSp>
      <p:cxnSp>
        <p:nvCxnSpPr>
          <p:cNvPr id="62" name="Google Shape;62;p2"/>
          <p:cNvCxnSpPr/>
          <p:nvPr/>
        </p:nvCxnSpPr>
        <p:spPr>
          <a:xfrm>
            <a:off x="7040880" y="3406140"/>
            <a:ext cx="365760" cy="0"/>
          </a:xfrm>
          <a:prstGeom prst="straightConnector1">
            <a:avLst/>
          </a:prstGeom>
          <a:noFill/>
          <a:ln cap="flat" cmpd="sng" w="22225">
            <a:solidFill>
              <a:schemeClr val="accent3"/>
            </a:solidFill>
            <a:prstDash val="solid"/>
            <a:round/>
            <a:headEnd len="med" w="med" type="triangle"/>
            <a:tailEnd len="sm" w="sm" type="none"/>
          </a:ln>
        </p:spPr>
      </p:cxnSp>
      <p:cxnSp>
        <p:nvCxnSpPr>
          <p:cNvPr id="63" name="Google Shape;63;p2"/>
          <p:cNvCxnSpPr/>
          <p:nvPr/>
        </p:nvCxnSpPr>
        <p:spPr>
          <a:xfrm>
            <a:off x="1508760" y="2423160"/>
            <a:ext cx="0" cy="1965960"/>
          </a:xfrm>
          <a:prstGeom prst="straightConnector1">
            <a:avLst/>
          </a:prstGeom>
          <a:noFill/>
          <a:ln cap="flat" cmpd="sng" w="22225">
            <a:solidFill>
              <a:schemeClr val="accent3"/>
            </a:solidFill>
            <a:prstDash val="solid"/>
            <a:round/>
            <a:headEnd len="med" w="med" type="triangle"/>
            <a:tailEnd len="sm" w="sm" type="none"/>
          </a:ln>
        </p:spPr>
      </p:cxnSp>
      <p:sp>
        <p:nvSpPr>
          <p:cNvPr id="64" name="Google Shape;64;p2"/>
          <p:cNvSpPr txBox="1"/>
          <p:nvPr/>
        </p:nvSpPr>
        <p:spPr>
          <a:xfrm>
            <a:off x="1645920" y="324612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100"/>
              <a:buFont typeface="Calibri"/>
              <a:buNone/>
            </a:pPr>
            <a:r>
              <a:rPr b="0" i="0" lang="en-US" sz="1100" u="none" cap="none" strike="noStrike">
                <a:solidFill>
                  <a:schemeClr val="accent3"/>
                </a:solidFill>
                <a:latin typeface="Calibri"/>
                <a:ea typeface="Calibri"/>
                <a:cs typeface="Calibri"/>
                <a:sym typeface="Calibri"/>
              </a:rPr>
              <a:t>upload PDF</a:t>
            </a:r>
            <a:endParaRPr b="0" i="0" sz="1100" u="none" cap="none" strike="noStrike">
              <a:solidFill>
                <a:schemeClr val="dk1"/>
              </a:solidFill>
              <a:latin typeface="Calibri"/>
              <a:ea typeface="Calibri"/>
              <a:cs typeface="Calibri"/>
              <a:sym typeface="Calibri"/>
            </a:endParaRPr>
          </a:p>
        </p:txBody>
      </p:sp>
      <p:cxnSp>
        <p:nvCxnSpPr>
          <p:cNvPr id="65" name="Google Shape;65;p2"/>
          <p:cNvCxnSpPr/>
          <p:nvPr/>
        </p:nvCxnSpPr>
        <p:spPr>
          <a:xfrm>
            <a:off x="10652760" y="3886200"/>
            <a:ext cx="0" cy="502920"/>
          </a:xfrm>
          <a:prstGeom prst="straightConnector1">
            <a:avLst/>
          </a:prstGeom>
          <a:noFill/>
          <a:ln cap="flat" cmpd="sng" w="22225">
            <a:solidFill>
              <a:schemeClr val="accent3"/>
            </a:solidFill>
            <a:prstDash val="solid"/>
            <a:round/>
            <a:headEnd len="med" w="med" type="triangle"/>
            <a:tailEnd len="sm" w="sm" type="none"/>
          </a:ln>
        </p:spPr>
      </p:cxnSp>
      <p:sp>
        <p:nvSpPr>
          <p:cNvPr id="66" name="Google Shape;66;p2"/>
          <p:cNvSpPr txBox="1"/>
          <p:nvPr/>
        </p:nvSpPr>
        <p:spPr>
          <a:xfrm>
            <a:off x="10789920" y="4023360"/>
            <a:ext cx="9144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100"/>
              <a:buFont typeface="Calibri"/>
              <a:buNone/>
            </a:pPr>
            <a:r>
              <a:rPr b="0" i="0" lang="en-US" sz="1100" u="none" cap="none" strike="noStrike">
                <a:solidFill>
                  <a:schemeClr val="accent3"/>
                </a:solidFill>
                <a:latin typeface="Calibri"/>
                <a:ea typeface="Calibri"/>
                <a:cs typeface="Calibri"/>
                <a:sym typeface="Calibri"/>
              </a:rPr>
              <a:t>question</a:t>
            </a:r>
            <a:endParaRPr b="0" i="0" sz="1100" u="none" cap="none" strike="noStrike">
              <a:solidFill>
                <a:schemeClr val="dk1"/>
              </a:solidFill>
              <a:latin typeface="Calibri"/>
              <a:ea typeface="Calibri"/>
              <a:cs typeface="Calibri"/>
              <a:sym typeface="Calibri"/>
            </a:endParaRPr>
          </a:p>
        </p:txBody>
      </p:sp>
      <p:cxnSp>
        <p:nvCxnSpPr>
          <p:cNvPr id="67" name="Google Shape;67;p2"/>
          <p:cNvCxnSpPr/>
          <p:nvPr/>
        </p:nvCxnSpPr>
        <p:spPr>
          <a:xfrm>
            <a:off x="6080760" y="3886200"/>
            <a:ext cx="0" cy="502920"/>
          </a:xfrm>
          <a:prstGeom prst="straightConnector1">
            <a:avLst/>
          </a:prstGeom>
          <a:noFill/>
          <a:ln cap="flat" cmpd="sng" w="22225">
            <a:solidFill>
              <a:schemeClr val="accent3"/>
            </a:solidFill>
            <a:prstDash val="solid"/>
            <a:round/>
            <a:headEnd len="sm" w="sm" type="none"/>
            <a:tailEnd len="med" w="med" type="triangle"/>
          </a:ln>
        </p:spPr>
      </p:cxnSp>
      <p:sp>
        <p:nvSpPr>
          <p:cNvPr id="68" name="Google Shape;68;p2"/>
          <p:cNvSpPr txBox="1"/>
          <p:nvPr/>
        </p:nvSpPr>
        <p:spPr>
          <a:xfrm>
            <a:off x="6217920" y="402336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100"/>
              <a:buFont typeface="Calibri"/>
              <a:buNone/>
            </a:pPr>
            <a:r>
              <a:rPr b="0" i="0" lang="en-US" sz="1100" u="none" cap="none" strike="noStrike">
                <a:solidFill>
                  <a:schemeClr val="accent3"/>
                </a:solidFill>
                <a:latin typeface="Calibri"/>
                <a:ea typeface="Calibri"/>
                <a:cs typeface="Calibri"/>
                <a:sym typeface="Calibri"/>
              </a:rPr>
              <a:t>shown to user</a:t>
            </a:r>
            <a:endParaRPr b="0" i="0" sz="1100" u="none" cap="none" strike="noStrike">
              <a:solidFill>
                <a:schemeClr val="dk1"/>
              </a:solidFill>
              <a:latin typeface="Calibri"/>
              <a:ea typeface="Calibri"/>
              <a:cs typeface="Calibri"/>
              <a:sym typeface="Calibri"/>
            </a:endParaRPr>
          </a:p>
        </p:txBody>
      </p:sp>
      <p:sp>
        <p:nvSpPr>
          <p:cNvPr id="69" name="Google Shape;69;p2"/>
          <p:cNvSpPr/>
          <p:nvPr/>
        </p:nvSpPr>
        <p:spPr>
          <a:xfrm>
            <a:off x="548640" y="4389120"/>
            <a:ext cx="11064240" cy="594360"/>
          </a:xfrm>
          <a:prstGeom prst="roundRect">
            <a:avLst>
              <a:gd fmla="val 12308" name="adj"/>
            </a:avLst>
          </a:prstGeom>
          <a:solidFill>
            <a:schemeClr val="dk2"/>
          </a:solidFill>
          <a:ln>
            <a:noFill/>
          </a:ln>
        </p:spPr>
        <p:txBody>
          <a:bodyPr anchorCtr="0" anchor="ctr" bIns="1250" lIns="1250" spcFirstLastPara="1" rIns="1250" wrap="square" tIns="125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Streamlit interface</a:t>
            </a:r>
            <a:r>
              <a:rPr b="0" i="0" lang="en-US" sz="1400" u="none" cap="none" strike="noStrike">
                <a:solidFill>
                  <a:schemeClr val="lt1"/>
                </a:solidFill>
                <a:latin typeface="Calibri"/>
                <a:ea typeface="Calibri"/>
                <a:cs typeface="Calibri"/>
                <a:sym typeface="Calibri"/>
              </a:rPr>
              <a:t>  ·  upload PDF  ·  ask a question  ·  inspect answer and cited passages</a:t>
            </a:r>
            <a:endParaRPr b="0" i="0" sz="1400" u="none" cap="none" strike="noStrike">
              <a:solidFill>
                <a:schemeClr val="dk1"/>
              </a:solidFill>
              <a:latin typeface="Calibri"/>
              <a:ea typeface="Calibri"/>
              <a:cs typeface="Calibri"/>
              <a:sym typeface="Calibri"/>
            </a:endParaRPr>
          </a:p>
        </p:txBody>
      </p:sp>
      <p:sp>
        <p:nvSpPr>
          <p:cNvPr id="70" name="Google Shape;70;p2"/>
          <p:cNvSpPr/>
          <p:nvPr/>
        </p:nvSpPr>
        <p:spPr>
          <a:xfrm>
            <a:off x="548640" y="5212080"/>
            <a:ext cx="6858000" cy="1051560"/>
          </a:xfrm>
          <a:prstGeom prst="roundRect">
            <a:avLst>
              <a:gd fmla="val 695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txBox="1"/>
          <p:nvPr/>
        </p:nvSpPr>
        <p:spPr>
          <a:xfrm>
            <a:off x="777240" y="5321808"/>
            <a:ext cx="64008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How RAG connects the paper to the answer</a:t>
            </a:r>
            <a:endParaRPr b="0" i="0" sz="1400" u="none" cap="none" strike="noStrike">
              <a:solidFill>
                <a:schemeClr val="dk1"/>
              </a:solidFill>
              <a:latin typeface="Calibri"/>
              <a:ea typeface="Calibri"/>
              <a:cs typeface="Calibri"/>
              <a:sym typeface="Calibri"/>
            </a:endParaRPr>
          </a:p>
        </p:txBody>
      </p:sp>
      <p:sp>
        <p:nvSpPr>
          <p:cNvPr id="72" name="Google Shape;72;p2"/>
          <p:cNvSpPr txBox="1"/>
          <p:nvPr/>
        </p:nvSpPr>
        <p:spPr>
          <a:xfrm>
            <a:off x="777240" y="5623560"/>
            <a:ext cx="64008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The question is matched against indexed passages; the best matches are given to the model as context, so its answer can be traced to cited pages.</a:t>
            </a:r>
            <a:endParaRPr b="0" i="0" sz="1400" u="none" cap="none" strike="noStrike">
              <a:solidFill>
                <a:schemeClr val="dk1"/>
              </a:solidFill>
              <a:latin typeface="Calibri"/>
              <a:ea typeface="Calibri"/>
              <a:cs typeface="Calibri"/>
              <a:sym typeface="Calibri"/>
            </a:endParaRPr>
          </a:p>
        </p:txBody>
      </p:sp>
      <p:sp>
        <p:nvSpPr>
          <p:cNvPr id="73" name="Google Shape;73;p2"/>
          <p:cNvSpPr/>
          <p:nvPr/>
        </p:nvSpPr>
        <p:spPr>
          <a:xfrm>
            <a:off x="7589520" y="5212080"/>
            <a:ext cx="4023360" cy="1051560"/>
          </a:xfrm>
          <a:prstGeom prst="roundRect">
            <a:avLst>
              <a:gd fmla="val 6957" name="adj"/>
            </a:avLst>
          </a:prstGeom>
          <a:solidFill>
            <a:schemeClr val="accent2">
              <a:alpha val="1803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txBox="1"/>
          <p:nvPr/>
        </p:nvSpPr>
        <p:spPr>
          <a:xfrm>
            <a:off x="7818120" y="5321808"/>
            <a:ext cx="3566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1" i="0" lang="en-US" sz="1400" u="none" cap="none" strike="noStrike">
                <a:solidFill>
                  <a:schemeClr val="accent5"/>
                </a:solidFill>
                <a:latin typeface="Calibri"/>
                <a:ea typeface="Calibri"/>
                <a:cs typeface="Calibri"/>
                <a:sym typeface="Calibri"/>
              </a:rPr>
              <a:t>Caution</a:t>
            </a:r>
            <a:endParaRPr b="0" i="0" sz="1400" u="none" cap="none" strike="noStrike">
              <a:solidFill>
                <a:schemeClr val="dk1"/>
              </a:solidFill>
              <a:latin typeface="Calibri"/>
              <a:ea typeface="Calibri"/>
              <a:cs typeface="Calibri"/>
              <a:sym typeface="Calibri"/>
            </a:endParaRPr>
          </a:p>
        </p:txBody>
      </p:sp>
      <p:sp>
        <p:nvSpPr>
          <p:cNvPr id="75" name="Google Shape;75;p2"/>
          <p:cNvSpPr txBox="1"/>
          <p:nvPr/>
        </p:nvSpPr>
        <p:spPr>
          <a:xfrm>
            <a:off x="7818120" y="5623560"/>
            <a:ext cx="35661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A citation shows what an answer drew on. It does not guarantee the answer is correct.</a:t>
            </a:r>
            <a:endParaRPr b="0" i="0" sz="1400" u="none" cap="none" strike="noStrike">
              <a:solidFill>
                <a:schemeClr val="dk1"/>
              </a:solidFill>
              <a:latin typeface="Calibri"/>
              <a:ea typeface="Calibri"/>
              <a:cs typeface="Calibri"/>
              <a:sym typeface="Calibri"/>
            </a:endParaRPr>
          </a:p>
        </p:txBody>
      </p:sp>
      <p:sp>
        <p:nvSpPr>
          <p:cNvPr id="76" name="Google Shape;76;p2"/>
          <p:cNvSpPr txBox="1"/>
          <p:nvPr>
            <p:ph idx="4294967295" type="sldNum"/>
          </p:nvPr>
        </p:nvSpPr>
        <p:spPr>
          <a:xfrm>
            <a:off x="1106424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3"/>
                </a:solidFill>
                <a:latin typeface="Calibri"/>
                <a:ea typeface="Calibri"/>
                <a:cs typeface="Calibri"/>
                <a:sym typeface="Calibri"/>
              </a:rPr>
              <a:t>‹#›</a:t>
            </a:fld>
            <a:endParaRPr b="0" i="0" sz="1000" u="none" cap="none" strike="noStrike">
              <a:solidFill>
                <a:schemeClr val="accent3"/>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3"/>
          <p:cNvSpPr txBox="1"/>
          <p:nvPr>
            <p:ph type="title"/>
          </p:nvPr>
        </p:nvSpPr>
        <p:spPr>
          <a:xfrm>
            <a:off x="548640" y="320040"/>
            <a:ext cx="1106424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Cambria"/>
              <a:buNone/>
            </a:pPr>
            <a:r>
              <a:rPr b="1" lang="en-US" sz="3400">
                <a:solidFill>
                  <a:schemeClr val="dk2"/>
                </a:solidFill>
              </a:rPr>
              <a:t>Implementation and Design Decisions</a:t>
            </a:r>
            <a:endParaRPr sz="3400"/>
          </a:p>
        </p:txBody>
      </p:sp>
      <p:sp>
        <p:nvSpPr>
          <p:cNvPr id="83" name="Google Shape;83;p3"/>
          <p:cNvSpPr/>
          <p:nvPr/>
        </p:nvSpPr>
        <p:spPr>
          <a:xfrm>
            <a:off x="548640" y="1417320"/>
            <a:ext cx="3566160" cy="1463040"/>
          </a:xfrm>
          <a:prstGeom prst="roundRect">
            <a:avLst>
              <a:gd fmla="val 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731520" y="1600200"/>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85" name="Google Shape;85;p3"/>
          <p:cNvSpPr txBox="1"/>
          <p:nvPr/>
        </p:nvSpPr>
        <p:spPr>
          <a:xfrm>
            <a:off x="1325880" y="1600200"/>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PDF upload and text indexing</a:t>
            </a:r>
            <a:endParaRPr b="0" i="0" sz="1600" u="none" cap="none" strike="noStrike">
              <a:solidFill>
                <a:schemeClr val="dk1"/>
              </a:solidFill>
              <a:latin typeface="Calibri"/>
              <a:ea typeface="Calibri"/>
              <a:cs typeface="Calibri"/>
              <a:sym typeface="Calibri"/>
            </a:endParaRPr>
          </a:p>
        </p:txBody>
      </p:sp>
      <p:sp>
        <p:nvSpPr>
          <p:cNvPr id="86" name="Google Shape;86;p3"/>
          <p:cNvSpPr txBox="1"/>
          <p:nvPr/>
        </p:nvSpPr>
        <p:spPr>
          <a:xfrm>
            <a:off x="731520" y="2194560"/>
            <a:ext cx="32004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Extracts paper text and stores it for search</a:t>
            </a:r>
            <a:endParaRPr b="0" i="0" sz="1400" u="none" cap="none" strike="noStrike">
              <a:solidFill>
                <a:schemeClr val="dk1"/>
              </a:solidFill>
              <a:latin typeface="Calibri"/>
              <a:ea typeface="Calibri"/>
              <a:cs typeface="Calibri"/>
              <a:sym typeface="Calibri"/>
            </a:endParaRPr>
          </a:p>
        </p:txBody>
      </p:sp>
      <p:sp>
        <p:nvSpPr>
          <p:cNvPr id="87" name="Google Shape;87;p3"/>
          <p:cNvSpPr/>
          <p:nvPr/>
        </p:nvSpPr>
        <p:spPr>
          <a:xfrm>
            <a:off x="4297680" y="1417320"/>
            <a:ext cx="3566160" cy="1463040"/>
          </a:xfrm>
          <a:prstGeom prst="roundRect">
            <a:avLst>
              <a:gd fmla="val 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4480560" y="1600200"/>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89" name="Google Shape;89;p3"/>
          <p:cNvSpPr txBox="1"/>
          <p:nvPr/>
        </p:nvSpPr>
        <p:spPr>
          <a:xfrm>
            <a:off x="5074920" y="1600200"/>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Chunks and vector retrieval</a:t>
            </a:r>
            <a:endParaRPr b="0" i="0" sz="1600" u="none" cap="none" strike="noStrike">
              <a:solidFill>
                <a:schemeClr val="dk1"/>
              </a:solidFill>
              <a:latin typeface="Calibri"/>
              <a:ea typeface="Calibri"/>
              <a:cs typeface="Calibri"/>
              <a:sym typeface="Calibri"/>
            </a:endParaRPr>
          </a:p>
        </p:txBody>
      </p:sp>
      <p:sp>
        <p:nvSpPr>
          <p:cNvPr id="90" name="Google Shape;90;p3"/>
          <p:cNvSpPr txBox="1"/>
          <p:nvPr/>
        </p:nvSpPr>
        <p:spPr>
          <a:xfrm>
            <a:off x="4480560" y="2194560"/>
            <a:ext cx="32004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Searchable chunks retrieved by similarity</a:t>
            </a:r>
            <a:endParaRPr b="0" i="0" sz="1400" u="none" cap="none" strike="noStrike">
              <a:solidFill>
                <a:schemeClr val="dk1"/>
              </a:solidFill>
              <a:latin typeface="Calibri"/>
              <a:ea typeface="Calibri"/>
              <a:cs typeface="Calibri"/>
              <a:sym typeface="Calibri"/>
            </a:endParaRPr>
          </a:p>
        </p:txBody>
      </p:sp>
      <p:sp>
        <p:nvSpPr>
          <p:cNvPr id="91" name="Google Shape;91;p3"/>
          <p:cNvSpPr/>
          <p:nvPr/>
        </p:nvSpPr>
        <p:spPr>
          <a:xfrm>
            <a:off x="548640" y="3063240"/>
            <a:ext cx="3566160" cy="1463040"/>
          </a:xfrm>
          <a:prstGeom prst="roundRect">
            <a:avLst>
              <a:gd fmla="val 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731520" y="3246120"/>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93" name="Google Shape;93;p3"/>
          <p:cNvSpPr txBox="1"/>
          <p:nvPr/>
        </p:nvSpPr>
        <p:spPr>
          <a:xfrm>
            <a:off x="1325880" y="3246120"/>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Question answering</a:t>
            </a:r>
            <a:endParaRPr b="0" i="0" sz="1600" u="none" cap="none" strike="noStrike">
              <a:solidFill>
                <a:schemeClr val="dk1"/>
              </a:solidFill>
              <a:latin typeface="Calibri"/>
              <a:ea typeface="Calibri"/>
              <a:cs typeface="Calibri"/>
              <a:sym typeface="Calibri"/>
            </a:endParaRPr>
          </a:p>
        </p:txBody>
      </p:sp>
      <p:sp>
        <p:nvSpPr>
          <p:cNvPr id="94" name="Google Shape;94;p3"/>
          <p:cNvSpPr txBox="1"/>
          <p:nvPr/>
        </p:nvSpPr>
        <p:spPr>
          <a:xfrm>
            <a:off x="731520" y="3840480"/>
            <a:ext cx="32004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Answers use the retrieved passages as context</a:t>
            </a:r>
            <a:endParaRPr b="0" i="0" sz="1400" u="none" cap="none" strike="noStrike">
              <a:solidFill>
                <a:schemeClr val="dk1"/>
              </a:solidFill>
              <a:latin typeface="Calibri"/>
              <a:ea typeface="Calibri"/>
              <a:cs typeface="Calibri"/>
              <a:sym typeface="Calibri"/>
            </a:endParaRPr>
          </a:p>
        </p:txBody>
      </p:sp>
      <p:sp>
        <p:nvSpPr>
          <p:cNvPr id="95" name="Google Shape;95;p3"/>
          <p:cNvSpPr/>
          <p:nvPr/>
        </p:nvSpPr>
        <p:spPr>
          <a:xfrm>
            <a:off x="4297680" y="3063240"/>
            <a:ext cx="3566160" cy="1463040"/>
          </a:xfrm>
          <a:prstGeom prst="roundRect">
            <a:avLst>
              <a:gd fmla="val 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4480560" y="3246120"/>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97" name="Google Shape;97;p3"/>
          <p:cNvSpPr txBox="1"/>
          <p:nvPr/>
        </p:nvSpPr>
        <p:spPr>
          <a:xfrm>
            <a:off x="5074920" y="3246120"/>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Evidence and page citations</a:t>
            </a:r>
            <a:endParaRPr b="0" i="0" sz="1600" u="none" cap="none" strike="noStrike">
              <a:solidFill>
                <a:schemeClr val="dk1"/>
              </a:solidFill>
              <a:latin typeface="Calibri"/>
              <a:ea typeface="Calibri"/>
              <a:cs typeface="Calibri"/>
              <a:sym typeface="Calibri"/>
            </a:endParaRPr>
          </a:p>
        </p:txBody>
      </p:sp>
      <p:sp>
        <p:nvSpPr>
          <p:cNvPr id="98" name="Google Shape;98;p3"/>
          <p:cNvSpPr txBox="1"/>
          <p:nvPr/>
        </p:nvSpPr>
        <p:spPr>
          <a:xfrm>
            <a:off x="4480560" y="3840480"/>
            <a:ext cx="32004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Intended to support verification, not to prove correctness</a:t>
            </a:r>
            <a:endParaRPr b="0" i="0" sz="1400" u="none" cap="none" strike="noStrike">
              <a:solidFill>
                <a:schemeClr val="dk1"/>
              </a:solidFill>
              <a:latin typeface="Calibri"/>
              <a:ea typeface="Calibri"/>
              <a:cs typeface="Calibri"/>
              <a:sym typeface="Calibri"/>
            </a:endParaRPr>
          </a:p>
        </p:txBody>
      </p:sp>
      <p:sp>
        <p:nvSpPr>
          <p:cNvPr id="99" name="Google Shape;99;p3"/>
          <p:cNvSpPr/>
          <p:nvPr/>
        </p:nvSpPr>
        <p:spPr>
          <a:xfrm>
            <a:off x="548640" y="4709160"/>
            <a:ext cx="3566160" cy="1463040"/>
          </a:xfrm>
          <a:prstGeom prst="roundRect">
            <a:avLst>
              <a:gd fmla="val 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731520" y="4892040"/>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101" name="Google Shape;101;p3"/>
          <p:cNvSpPr txBox="1"/>
          <p:nvPr/>
        </p:nvSpPr>
        <p:spPr>
          <a:xfrm>
            <a:off x="1325880" y="4892040"/>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Abstention</a:t>
            </a:r>
            <a:endParaRPr b="0" i="0" sz="1600" u="none" cap="none" strike="noStrike">
              <a:solidFill>
                <a:schemeClr val="dk1"/>
              </a:solidFill>
              <a:latin typeface="Calibri"/>
              <a:ea typeface="Calibri"/>
              <a:cs typeface="Calibri"/>
              <a:sym typeface="Calibri"/>
            </a:endParaRPr>
          </a:p>
        </p:txBody>
      </p:sp>
      <p:sp>
        <p:nvSpPr>
          <p:cNvPr id="102" name="Google Shape;102;p3"/>
          <p:cNvSpPr txBox="1"/>
          <p:nvPr/>
        </p:nvSpPr>
        <p:spPr>
          <a:xfrm>
            <a:off x="731520" y="5486400"/>
            <a:ext cx="32004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Declines when adequate evidence is not retrieved</a:t>
            </a:r>
            <a:endParaRPr b="0" i="0" sz="1400" u="none" cap="none" strike="noStrike">
              <a:solidFill>
                <a:schemeClr val="dk1"/>
              </a:solidFill>
              <a:latin typeface="Calibri"/>
              <a:ea typeface="Calibri"/>
              <a:cs typeface="Calibri"/>
              <a:sym typeface="Calibri"/>
            </a:endParaRPr>
          </a:p>
        </p:txBody>
      </p:sp>
      <p:sp>
        <p:nvSpPr>
          <p:cNvPr id="103" name="Google Shape;103;p3"/>
          <p:cNvSpPr/>
          <p:nvPr/>
        </p:nvSpPr>
        <p:spPr>
          <a:xfrm>
            <a:off x="4297680" y="4709160"/>
            <a:ext cx="3566160" cy="1463040"/>
          </a:xfrm>
          <a:prstGeom prst="roundRect">
            <a:avLst>
              <a:gd fmla="val 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4480560" y="4892040"/>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6</a:t>
            </a:r>
            <a:endParaRPr b="0" i="0" sz="1600" u="none" cap="none" strike="noStrike">
              <a:solidFill>
                <a:schemeClr val="dk1"/>
              </a:solidFill>
              <a:latin typeface="Calibri"/>
              <a:ea typeface="Calibri"/>
              <a:cs typeface="Calibri"/>
              <a:sym typeface="Calibri"/>
            </a:endParaRPr>
          </a:p>
        </p:txBody>
      </p:sp>
      <p:sp>
        <p:nvSpPr>
          <p:cNvPr id="105" name="Google Shape;105;p3"/>
          <p:cNvSpPr txBox="1"/>
          <p:nvPr/>
        </p:nvSpPr>
        <p:spPr>
          <a:xfrm>
            <a:off x="5074920" y="4892040"/>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Local inference and storage</a:t>
            </a:r>
            <a:endParaRPr b="0" i="0" sz="1600" u="none" cap="none" strike="noStrike">
              <a:solidFill>
                <a:schemeClr val="dk1"/>
              </a:solidFill>
              <a:latin typeface="Calibri"/>
              <a:ea typeface="Calibri"/>
              <a:cs typeface="Calibri"/>
              <a:sym typeface="Calibri"/>
            </a:endParaRPr>
          </a:p>
        </p:txBody>
      </p:sp>
      <p:sp>
        <p:nvSpPr>
          <p:cNvPr id="106" name="Google Shape;106;p3"/>
          <p:cNvSpPr txBox="1"/>
          <p:nvPr/>
        </p:nvSpPr>
        <p:spPr>
          <a:xfrm>
            <a:off x="4480560" y="5486400"/>
            <a:ext cx="32004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Qwen via llama.cpp; vectors kept in data/chroma</a:t>
            </a:r>
            <a:endParaRPr b="0" i="0" sz="1400" u="none" cap="none" strike="noStrike">
              <a:solidFill>
                <a:schemeClr val="dk1"/>
              </a:solidFill>
              <a:latin typeface="Calibri"/>
              <a:ea typeface="Calibri"/>
              <a:cs typeface="Calibri"/>
              <a:sym typeface="Calibri"/>
            </a:endParaRPr>
          </a:p>
        </p:txBody>
      </p:sp>
      <p:sp>
        <p:nvSpPr>
          <p:cNvPr id="107" name="Google Shape;107;p3"/>
          <p:cNvSpPr/>
          <p:nvPr/>
        </p:nvSpPr>
        <p:spPr>
          <a:xfrm>
            <a:off x="8183880" y="1417320"/>
            <a:ext cx="3429000" cy="4754880"/>
          </a:xfrm>
          <a:prstGeom prst="roundRect">
            <a:avLst>
              <a:gd fmla="val 2133"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txBox="1"/>
          <p:nvPr/>
        </p:nvSpPr>
        <p:spPr>
          <a:xfrm>
            <a:off x="8458200" y="1645920"/>
            <a:ext cx="29260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Engineering trade-off</a:t>
            </a:r>
            <a:endParaRPr b="0" i="0" sz="1800" u="none" cap="none" strike="noStrike">
              <a:solidFill>
                <a:schemeClr val="dk1"/>
              </a:solidFill>
              <a:latin typeface="Calibri"/>
              <a:ea typeface="Calibri"/>
              <a:cs typeface="Calibri"/>
              <a:sym typeface="Calibri"/>
            </a:endParaRPr>
          </a:p>
        </p:txBody>
      </p:sp>
      <p:sp>
        <p:nvSpPr>
          <p:cNvPr id="109" name="Google Shape;109;p3"/>
          <p:cNvSpPr txBox="1"/>
          <p:nvPr/>
        </p:nvSpPr>
        <p:spPr>
          <a:xfrm>
            <a:off x="8458200" y="2103120"/>
            <a:ext cx="2926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1" i="0" lang="en-US" sz="1400" u="none" cap="none" strike="noStrike">
                <a:solidFill>
                  <a:schemeClr val="accent6"/>
                </a:solidFill>
                <a:latin typeface="Calibri"/>
                <a:ea typeface="Calibri"/>
                <a:cs typeface="Calibri"/>
                <a:sym typeface="Calibri"/>
              </a:rPr>
              <a:t>Small quantized local model</a:t>
            </a:r>
            <a:endParaRPr b="0" i="0" sz="1400" u="none" cap="none" strike="noStrike">
              <a:solidFill>
                <a:schemeClr val="dk1"/>
              </a:solidFill>
              <a:latin typeface="Calibri"/>
              <a:ea typeface="Calibri"/>
              <a:cs typeface="Calibri"/>
              <a:sym typeface="Calibri"/>
            </a:endParaRPr>
          </a:p>
        </p:txBody>
      </p:sp>
      <p:sp>
        <p:nvSpPr>
          <p:cNvPr id="110" name="Google Shape;110;p3"/>
          <p:cNvSpPr/>
          <p:nvPr/>
        </p:nvSpPr>
        <p:spPr>
          <a:xfrm>
            <a:off x="8458200" y="2560320"/>
            <a:ext cx="2880360" cy="1143000"/>
          </a:xfrm>
          <a:prstGeom prst="roundRect">
            <a:avLst>
              <a:gd fmla="val 6400" name="adj"/>
            </a:avLst>
          </a:prstGeom>
          <a:solidFill>
            <a:schemeClr val="lt1">
              <a:alpha val="1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txBox="1"/>
          <p:nvPr/>
        </p:nvSpPr>
        <p:spPr>
          <a:xfrm>
            <a:off x="8595360" y="2670048"/>
            <a:ext cx="26060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Benefit</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2"/>
              </a:buClr>
              <a:buSzPts val="1400"/>
              <a:buFont typeface="Calibri"/>
              <a:buNone/>
            </a:pPr>
            <a:r>
              <a:rPr b="0" i="0" lang="en-US" sz="1400" u="none" cap="none" strike="noStrike">
                <a:solidFill>
                  <a:schemeClr val="lt2"/>
                </a:solidFill>
                <a:latin typeface="Calibri"/>
                <a:ea typeface="Calibri"/>
                <a:cs typeface="Calibri"/>
                <a:sym typeface="Calibri"/>
              </a:rPr>
              <a:t>No paid model API dependency; local inference</a:t>
            </a:r>
            <a:endParaRPr b="0" i="0" sz="1400" u="none" cap="none" strike="noStrike">
              <a:solidFill>
                <a:schemeClr val="dk1"/>
              </a:solidFill>
              <a:latin typeface="Calibri"/>
              <a:ea typeface="Calibri"/>
              <a:cs typeface="Calibri"/>
              <a:sym typeface="Calibri"/>
            </a:endParaRPr>
          </a:p>
        </p:txBody>
      </p:sp>
      <p:sp>
        <p:nvSpPr>
          <p:cNvPr id="112" name="Google Shape;112;p3"/>
          <p:cNvSpPr/>
          <p:nvPr/>
        </p:nvSpPr>
        <p:spPr>
          <a:xfrm>
            <a:off x="8458200" y="3886200"/>
            <a:ext cx="2880360" cy="1143000"/>
          </a:xfrm>
          <a:prstGeom prst="roundRect">
            <a:avLst>
              <a:gd fmla="val 6400" name="adj"/>
            </a:avLst>
          </a:prstGeom>
          <a:solidFill>
            <a:schemeClr val="lt1">
              <a:alpha val="1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txBox="1"/>
          <p:nvPr/>
        </p:nvSpPr>
        <p:spPr>
          <a:xfrm>
            <a:off x="8595360" y="3995928"/>
            <a:ext cx="26060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Cost</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2"/>
              </a:buClr>
              <a:buSzPts val="1400"/>
              <a:buFont typeface="Calibri"/>
              <a:buNone/>
            </a:pPr>
            <a:r>
              <a:rPr b="0" i="0" lang="en-US" sz="1400" u="none" cap="none" strike="noStrike">
                <a:solidFill>
                  <a:schemeClr val="lt2"/>
                </a:solidFill>
                <a:latin typeface="Calibri"/>
                <a:ea typeface="Calibri"/>
                <a:cs typeface="Calibri"/>
                <a:sym typeface="Calibri"/>
              </a:rPr>
              <a:t>Limited answer quality and reasoning capability</a:t>
            </a:r>
            <a:endParaRPr b="0" i="0" sz="1400" u="none" cap="none" strike="noStrike">
              <a:solidFill>
                <a:schemeClr val="dk1"/>
              </a:solidFill>
              <a:latin typeface="Calibri"/>
              <a:ea typeface="Calibri"/>
              <a:cs typeface="Calibri"/>
              <a:sym typeface="Calibri"/>
            </a:endParaRPr>
          </a:p>
        </p:txBody>
      </p:sp>
      <p:sp>
        <p:nvSpPr>
          <p:cNvPr id="114" name="Google Shape;114;p3"/>
          <p:cNvSpPr txBox="1"/>
          <p:nvPr/>
        </p:nvSpPr>
        <p:spPr>
          <a:xfrm>
            <a:off x="8458200" y="5212080"/>
            <a:ext cx="28803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200"/>
              <a:buFont typeface="Calibri"/>
              <a:buNone/>
            </a:pPr>
            <a:r>
              <a:rPr b="0" i="0" lang="en-US" sz="1200" u="none" cap="none" strike="noStrike">
                <a:solidFill>
                  <a:schemeClr val="lt2"/>
                </a:solidFill>
                <a:latin typeface="Calibri"/>
                <a:ea typeface="Calibri"/>
                <a:cs typeface="Calibri"/>
                <a:sym typeface="Calibri"/>
              </a:rPr>
              <a:t>Research prototype. Not production-ready, not security-reviewed, and not shown to eliminate hallucination.</a:t>
            </a:r>
            <a:endParaRPr b="0" i="0" sz="1200" u="none" cap="none" strike="noStrike">
              <a:solidFill>
                <a:schemeClr val="dk1"/>
              </a:solidFill>
              <a:latin typeface="Calibri"/>
              <a:ea typeface="Calibri"/>
              <a:cs typeface="Calibri"/>
              <a:sym typeface="Calibri"/>
            </a:endParaRPr>
          </a:p>
        </p:txBody>
      </p:sp>
      <p:sp>
        <p:nvSpPr>
          <p:cNvPr id="115" name="Google Shape;115;p3"/>
          <p:cNvSpPr txBox="1"/>
          <p:nvPr>
            <p:ph idx="4294967295" type="sldNum"/>
          </p:nvPr>
        </p:nvSpPr>
        <p:spPr>
          <a:xfrm>
            <a:off x="1106424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3"/>
                </a:solidFill>
                <a:latin typeface="Calibri"/>
                <a:ea typeface="Calibri"/>
                <a:cs typeface="Calibri"/>
                <a:sym typeface="Calibri"/>
              </a:rPr>
              <a:t>‹#›</a:t>
            </a:fld>
            <a:endParaRPr b="0" i="0" sz="1000" u="none" cap="none" strike="noStrike">
              <a:solidFill>
                <a:schemeClr val="accent3"/>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548640" y="320040"/>
            <a:ext cx="1106424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Cambria"/>
              <a:buNone/>
            </a:pPr>
            <a:r>
              <a:rPr b="1" lang="en-US" sz="3400">
                <a:solidFill>
                  <a:schemeClr val="dk2"/>
                </a:solidFill>
              </a:rPr>
              <a:t>Evaluation and Current Findings</a:t>
            </a:r>
            <a:endParaRPr sz="3400"/>
          </a:p>
        </p:txBody>
      </p:sp>
      <p:sp>
        <p:nvSpPr>
          <p:cNvPr id="122" name="Google Shape;122;p4"/>
          <p:cNvSpPr/>
          <p:nvPr/>
        </p:nvSpPr>
        <p:spPr>
          <a:xfrm>
            <a:off x="548640" y="1371600"/>
            <a:ext cx="2633472" cy="1691640"/>
          </a:xfrm>
          <a:prstGeom prst="roundRect">
            <a:avLst>
              <a:gd fmla="val 432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txBox="1"/>
          <p:nvPr/>
        </p:nvSpPr>
        <p:spPr>
          <a:xfrm>
            <a:off x="731520" y="1481328"/>
            <a:ext cx="2286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4000"/>
              <a:buFont typeface="Calibri"/>
              <a:buNone/>
            </a:pPr>
            <a:r>
              <a:rPr b="1" i="0" lang="en-US" sz="4000" u="none" cap="none" strike="noStrike">
                <a:solidFill>
                  <a:schemeClr val="accent1"/>
                </a:solidFill>
                <a:latin typeface="Calibri"/>
                <a:ea typeface="Calibri"/>
                <a:cs typeface="Calibri"/>
                <a:sym typeface="Calibri"/>
              </a:rPr>
              <a:t>70</a:t>
            </a:r>
            <a:endParaRPr b="0" i="0" sz="4000" u="none" cap="none" strike="noStrike">
              <a:solidFill>
                <a:schemeClr val="dk1"/>
              </a:solidFill>
              <a:latin typeface="Calibri"/>
              <a:ea typeface="Calibri"/>
              <a:cs typeface="Calibri"/>
              <a:sym typeface="Calibri"/>
            </a:endParaRPr>
          </a:p>
        </p:txBody>
      </p:sp>
      <p:sp>
        <p:nvSpPr>
          <p:cNvPr id="124" name="Google Shape;124;p4"/>
          <p:cNvSpPr txBox="1"/>
          <p:nvPr/>
        </p:nvSpPr>
        <p:spPr>
          <a:xfrm>
            <a:off x="731520" y="2240280"/>
            <a:ext cx="22860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automated tests passed</a:t>
            </a:r>
            <a:endParaRPr b="0" i="0" sz="1200" u="none" cap="none" strike="noStrike">
              <a:solidFill>
                <a:schemeClr val="dk1"/>
              </a:solidFill>
              <a:latin typeface="Calibri"/>
              <a:ea typeface="Calibri"/>
              <a:cs typeface="Calibri"/>
              <a:sym typeface="Calibri"/>
            </a:endParaRPr>
          </a:p>
        </p:txBody>
      </p:sp>
      <p:sp>
        <p:nvSpPr>
          <p:cNvPr id="125" name="Google Shape;125;p4"/>
          <p:cNvSpPr/>
          <p:nvPr/>
        </p:nvSpPr>
        <p:spPr>
          <a:xfrm>
            <a:off x="3355848" y="1371600"/>
            <a:ext cx="2633472" cy="1691640"/>
          </a:xfrm>
          <a:prstGeom prst="roundRect">
            <a:avLst>
              <a:gd fmla="val 432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txBox="1"/>
          <p:nvPr/>
        </p:nvSpPr>
        <p:spPr>
          <a:xfrm>
            <a:off x="3538728" y="1481328"/>
            <a:ext cx="2286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4000"/>
              <a:buFont typeface="Calibri"/>
              <a:buNone/>
            </a:pPr>
            <a:r>
              <a:rPr b="1" i="0" lang="en-US" sz="4000" u="none" cap="none" strike="noStrike">
                <a:solidFill>
                  <a:schemeClr val="accent1"/>
                </a:solidFill>
                <a:latin typeface="Calibri"/>
                <a:ea typeface="Calibri"/>
                <a:cs typeface="Calibri"/>
                <a:sym typeface="Calibri"/>
              </a:rPr>
              <a:t>Passed</a:t>
            </a:r>
            <a:endParaRPr b="0" i="0" sz="4000" u="none" cap="none" strike="noStrike">
              <a:solidFill>
                <a:schemeClr val="dk1"/>
              </a:solidFill>
              <a:latin typeface="Calibri"/>
              <a:ea typeface="Calibri"/>
              <a:cs typeface="Calibri"/>
              <a:sym typeface="Calibri"/>
            </a:endParaRPr>
          </a:p>
        </p:txBody>
      </p:sp>
      <p:sp>
        <p:nvSpPr>
          <p:cNvPr id="127" name="Google Shape;127;p4"/>
          <p:cNvSpPr txBox="1"/>
          <p:nvPr/>
        </p:nvSpPr>
        <p:spPr>
          <a:xfrm>
            <a:off x="3538728" y="2240280"/>
            <a:ext cx="22860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Python compilation check</a:t>
            </a:r>
            <a:endParaRPr b="0" i="0" sz="1200" u="none" cap="none" strike="noStrike">
              <a:solidFill>
                <a:schemeClr val="dk1"/>
              </a:solidFill>
              <a:latin typeface="Calibri"/>
              <a:ea typeface="Calibri"/>
              <a:cs typeface="Calibri"/>
              <a:sym typeface="Calibri"/>
            </a:endParaRPr>
          </a:p>
        </p:txBody>
      </p:sp>
      <p:sp>
        <p:nvSpPr>
          <p:cNvPr id="128" name="Google Shape;128;p4"/>
          <p:cNvSpPr/>
          <p:nvPr/>
        </p:nvSpPr>
        <p:spPr>
          <a:xfrm>
            <a:off x="6163056" y="1371600"/>
            <a:ext cx="2633472" cy="1691640"/>
          </a:xfrm>
          <a:prstGeom prst="roundRect">
            <a:avLst>
              <a:gd fmla="val 432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txBox="1"/>
          <p:nvPr/>
        </p:nvSpPr>
        <p:spPr>
          <a:xfrm>
            <a:off x="6345936" y="1481328"/>
            <a:ext cx="2286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400"/>
              <a:buFont typeface="Calibri"/>
              <a:buNone/>
            </a:pPr>
            <a:r>
              <a:rPr b="1" lang="en-US" sz="3400">
                <a:solidFill>
                  <a:schemeClr val="accent1"/>
                </a:solidFill>
                <a:latin typeface="Calibri"/>
                <a:ea typeface="Calibri"/>
                <a:cs typeface="Calibri"/>
                <a:sym typeface="Calibri"/>
              </a:rPr>
              <a:t>05</a:t>
            </a:r>
            <a:r>
              <a:rPr b="1" i="0" lang="en-US" sz="3400" u="none" cap="none" strike="noStrike">
                <a:solidFill>
                  <a:schemeClr val="accent1"/>
                </a:solidFill>
                <a:latin typeface="Calibri"/>
                <a:ea typeface="Calibri"/>
                <a:cs typeface="Calibri"/>
                <a:sym typeface="Calibri"/>
              </a:rPr>
              <a:t> / 10 / 11</a:t>
            </a:r>
            <a:endParaRPr b="0" i="0" sz="3400" u="none" cap="none" strike="noStrike">
              <a:solidFill>
                <a:schemeClr val="dk1"/>
              </a:solidFill>
              <a:latin typeface="Calibri"/>
              <a:ea typeface="Calibri"/>
              <a:cs typeface="Calibri"/>
              <a:sym typeface="Calibri"/>
            </a:endParaRPr>
          </a:p>
        </p:txBody>
      </p:sp>
      <p:sp>
        <p:nvSpPr>
          <p:cNvPr id="130" name="Google Shape;130;p4"/>
          <p:cNvSpPr txBox="1"/>
          <p:nvPr/>
        </p:nvSpPr>
        <p:spPr>
          <a:xfrm>
            <a:off x="6345936" y="2240280"/>
            <a:ext cx="22860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pilot verifier: papers / questions / page-verified evidence passages</a:t>
            </a:r>
            <a:endParaRPr b="0" i="0" sz="1200" u="none" cap="none" strike="noStrike">
              <a:solidFill>
                <a:schemeClr val="dk1"/>
              </a:solidFill>
              <a:latin typeface="Calibri"/>
              <a:ea typeface="Calibri"/>
              <a:cs typeface="Calibri"/>
              <a:sym typeface="Calibri"/>
            </a:endParaRPr>
          </a:p>
        </p:txBody>
      </p:sp>
      <p:sp>
        <p:nvSpPr>
          <p:cNvPr id="131" name="Google Shape;131;p4"/>
          <p:cNvSpPr/>
          <p:nvPr/>
        </p:nvSpPr>
        <p:spPr>
          <a:xfrm>
            <a:off x="8970264" y="1371600"/>
            <a:ext cx="2633472" cy="1691640"/>
          </a:xfrm>
          <a:prstGeom prst="roundRect">
            <a:avLst>
              <a:gd fmla="val 432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txBox="1"/>
          <p:nvPr/>
        </p:nvSpPr>
        <p:spPr>
          <a:xfrm>
            <a:off x="9153144" y="1481328"/>
            <a:ext cx="2286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4000"/>
              <a:buFont typeface="Calibri"/>
              <a:buNone/>
            </a:pPr>
            <a:r>
              <a:rPr b="1" i="0" lang="en-US" sz="4000" u="none" cap="none" strike="noStrike">
                <a:solidFill>
                  <a:schemeClr val="accent1"/>
                </a:solidFill>
                <a:latin typeface="Calibri"/>
                <a:ea typeface="Calibri"/>
                <a:cs typeface="Calibri"/>
                <a:sym typeface="Calibri"/>
              </a:rPr>
              <a:t>2</a:t>
            </a:r>
            <a:endParaRPr b="0" i="0" sz="4000" u="none" cap="none" strike="noStrike">
              <a:solidFill>
                <a:schemeClr val="dk1"/>
              </a:solidFill>
              <a:latin typeface="Calibri"/>
              <a:ea typeface="Calibri"/>
              <a:cs typeface="Calibri"/>
              <a:sym typeface="Calibri"/>
            </a:endParaRPr>
          </a:p>
        </p:txBody>
      </p:sp>
      <p:sp>
        <p:nvSpPr>
          <p:cNvPr id="133" name="Google Shape;133;p4"/>
          <p:cNvSpPr txBox="1"/>
          <p:nvPr/>
        </p:nvSpPr>
        <p:spPr>
          <a:xfrm>
            <a:off x="9153144" y="2240280"/>
            <a:ext cx="22860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local-model pilot experiments documented in the repository</a:t>
            </a:r>
            <a:endParaRPr b="0" i="0" sz="1200" u="none" cap="none" strike="noStrike">
              <a:solidFill>
                <a:schemeClr val="dk1"/>
              </a:solidFill>
              <a:latin typeface="Calibri"/>
              <a:ea typeface="Calibri"/>
              <a:cs typeface="Calibri"/>
              <a:sym typeface="Calibri"/>
            </a:endParaRPr>
          </a:p>
        </p:txBody>
      </p:sp>
      <p:sp>
        <p:nvSpPr>
          <p:cNvPr id="134" name="Google Shape;134;p4"/>
          <p:cNvSpPr/>
          <p:nvPr/>
        </p:nvSpPr>
        <p:spPr>
          <a:xfrm>
            <a:off x="548640" y="3291840"/>
            <a:ext cx="5440680" cy="2103120"/>
          </a:xfrm>
          <a:prstGeom prst="roundRect">
            <a:avLst>
              <a:gd fmla="val 347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txBox="1"/>
          <p:nvPr/>
        </p:nvSpPr>
        <p:spPr>
          <a:xfrm>
            <a:off x="777240" y="3429000"/>
            <a:ext cx="50292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1600"/>
              <a:buFont typeface="Calibri"/>
              <a:buNone/>
            </a:pPr>
            <a:r>
              <a:rPr b="1" i="0" lang="en-US" sz="1600" u="none" cap="none" strike="noStrike">
                <a:solidFill>
                  <a:schemeClr val="accent4"/>
                </a:solidFill>
                <a:latin typeface="Calibri"/>
                <a:ea typeface="Calibri"/>
                <a:cs typeface="Calibri"/>
                <a:sym typeface="Calibri"/>
              </a:rPr>
              <a:t>What these checks show</a:t>
            </a:r>
            <a:endParaRPr b="0" i="0" sz="1600" u="none" cap="none" strike="noStrike">
              <a:solidFill>
                <a:schemeClr val="dk1"/>
              </a:solidFill>
              <a:latin typeface="Calibri"/>
              <a:ea typeface="Calibri"/>
              <a:cs typeface="Calibri"/>
              <a:sym typeface="Calibri"/>
            </a:endParaRPr>
          </a:p>
        </p:txBody>
      </p:sp>
      <p:sp>
        <p:nvSpPr>
          <p:cNvPr id="136" name="Google Shape;136;p4"/>
          <p:cNvSpPr txBox="1"/>
          <p:nvPr/>
        </p:nvSpPr>
        <p:spPr>
          <a:xfrm>
            <a:off x="777240" y="3840480"/>
            <a:ext cx="5029200" cy="14630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The code's tests and compilation check pass</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Pilot dataset evidence passages are exact and page-verified</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Two pilot experiments are documented in the repository</a:t>
            </a:r>
            <a:endParaRPr b="0" i="0" sz="1600" u="none" cap="none" strike="noStrike">
              <a:solidFill>
                <a:schemeClr val="dk1"/>
              </a:solidFill>
              <a:latin typeface="Calibri"/>
              <a:ea typeface="Calibri"/>
              <a:cs typeface="Calibri"/>
              <a:sym typeface="Calibri"/>
            </a:endParaRPr>
          </a:p>
        </p:txBody>
      </p:sp>
      <p:sp>
        <p:nvSpPr>
          <p:cNvPr id="137" name="Google Shape;137;p4"/>
          <p:cNvSpPr/>
          <p:nvPr/>
        </p:nvSpPr>
        <p:spPr>
          <a:xfrm>
            <a:off x="6172200" y="3291840"/>
            <a:ext cx="5440680" cy="2103120"/>
          </a:xfrm>
          <a:prstGeom prst="roundRect">
            <a:avLst>
              <a:gd fmla="val 347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txBox="1"/>
          <p:nvPr/>
        </p:nvSpPr>
        <p:spPr>
          <a:xfrm>
            <a:off x="6400800" y="3429000"/>
            <a:ext cx="50292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600"/>
              <a:buFont typeface="Calibri"/>
              <a:buNone/>
            </a:pPr>
            <a:r>
              <a:rPr b="1" i="0" lang="en-US" sz="1600" u="none" cap="none" strike="noStrike">
                <a:solidFill>
                  <a:schemeClr val="accent5"/>
                </a:solidFill>
                <a:latin typeface="Calibri"/>
                <a:ea typeface="Calibri"/>
                <a:cs typeface="Calibri"/>
                <a:sym typeface="Calibri"/>
              </a:rPr>
              <a:t>What they do not show</a:t>
            </a:r>
            <a:endParaRPr b="0" i="0" sz="1600" u="none" cap="none" strike="noStrike">
              <a:solidFill>
                <a:schemeClr val="dk1"/>
              </a:solidFill>
              <a:latin typeface="Calibri"/>
              <a:ea typeface="Calibri"/>
              <a:cs typeface="Calibri"/>
              <a:sym typeface="Calibri"/>
            </a:endParaRPr>
          </a:p>
        </p:txBody>
      </p:sp>
      <p:sp>
        <p:nvSpPr>
          <p:cNvPr id="139" name="Google Shape;139;p4"/>
          <p:cNvSpPr txBox="1"/>
          <p:nvPr/>
        </p:nvSpPr>
        <p:spPr>
          <a:xfrm>
            <a:off x="6400800" y="3840480"/>
            <a:ext cx="5029200" cy="14630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General model accuracy or scientific validity</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Citation correctness or answer correctness</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Abstention reliability</a:t>
            </a:r>
            <a:endParaRPr b="0" i="0" sz="1600" u="none" cap="none" strike="noStrike">
              <a:solidFill>
                <a:schemeClr val="dk1"/>
              </a:solidFill>
              <a:latin typeface="Calibri"/>
              <a:ea typeface="Calibri"/>
              <a:cs typeface="Calibri"/>
              <a:sym typeface="Calibri"/>
            </a:endParaRPr>
          </a:p>
        </p:txBody>
      </p:sp>
      <p:sp>
        <p:nvSpPr>
          <p:cNvPr id="140" name="Google Shape;140;p4"/>
          <p:cNvSpPr/>
          <p:nvPr/>
        </p:nvSpPr>
        <p:spPr>
          <a:xfrm>
            <a:off x="548640" y="5577840"/>
            <a:ext cx="11064240" cy="685800"/>
          </a:xfrm>
          <a:prstGeom prst="roundRect">
            <a:avLst>
              <a:gd fmla="val 10667" name="adj"/>
            </a:avLst>
          </a:prstGeom>
          <a:solidFill>
            <a:schemeClr val="dk2"/>
          </a:solidFill>
          <a:ln>
            <a:noFill/>
          </a:ln>
        </p:spPr>
        <p:txBody>
          <a:bodyPr anchorCtr="0" anchor="ctr" bIns="1250" lIns="1250" spcFirstLastPara="1" rIns="1250" wrap="square" tIns="125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Validated evidence passages are not independently verified answer quality.</a:t>
            </a:r>
            <a:endParaRPr b="0" i="0" sz="1600" u="none" cap="none" strike="noStrike">
              <a:solidFill>
                <a:schemeClr val="dk1"/>
              </a:solidFill>
              <a:latin typeface="Calibri"/>
              <a:ea typeface="Calibri"/>
              <a:cs typeface="Calibri"/>
              <a:sym typeface="Calibri"/>
            </a:endParaRPr>
          </a:p>
        </p:txBody>
      </p:sp>
      <p:sp>
        <p:nvSpPr>
          <p:cNvPr id="141" name="Google Shape;141;p4"/>
          <p:cNvSpPr txBox="1"/>
          <p:nvPr>
            <p:ph idx="4294967295" type="sldNum"/>
          </p:nvPr>
        </p:nvSpPr>
        <p:spPr>
          <a:xfrm>
            <a:off x="1106424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3"/>
                </a:solidFill>
                <a:latin typeface="Calibri"/>
                <a:ea typeface="Calibri"/>
                <a:cs typeface="Calibri"/>
                <a:sym typeface="Calibri"/>
              </a:rPr>
              <a:t>‹#›</a:t>
            </a:fld>
            <a:endParaRPr b="0" i="0" sz="1000" u="none" cap="none" strike="noStrike">
              <a:solidFill>
                <a:schemeClr val="accent3"/>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5"/>
          <p:cNvSpPr txBox="1"/>
          <p:nvPr>
            <p:ph type="title"/>
          </p:nvPr>
        </p:nvSpPr>
        <p:spPr>
          <a:xfrm>
            <a:off x="548640" y="320040"/>
            <a:ext cx="1106424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Cambria"/>
              <a:buNone/>
            </a:pPr>
            <a:r>
              <a:rPr b="1" lang="en-US" sz="3400">
                <a:solidFill>
                  <a:schemeClr val="dk2"/>
                </a:solidFill>
              </a:rPr>
              <a:t>Limitations, Future Work, and Research Fit</a:t>
            </a:r>
            <a:endParaRPr sz="3400"/>
          </a:p>
        </p:txBody>
      </p:sp>
      <p:sp>
        <p:nvSpPr>
          <p:cNvPr id="148" name="Google Shape;148;p5"/>
          <p:cNvSpPr/>
          <p:nvPr/>
        </p:nvSpPr>
        <p:spPr>
          <a:xfrm>
            <a:off x="548640" y="1325880"/>
            <a:ext cx="5394960" cy="3611880"/>
          </a:xfrm>
          <a:prstGeom prst="roundRect">
            <a:avLst>
              <a:gd fmla="val 2025"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txBox="1"/>
          <p:nvPr/>
        </p:nvSpPr>
        <p:spPr>
          <a:xfrm>
            <a:off x="822960" y="1508760"/>
            <a:ext cx="48463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800"/>
              <a:buFont typeface="Calibri"/>
              <a:buNone/>
            </a:pPr>
            <a:r>
              <a:rPr b="1" i="0" lang="en-US" sz="1800" u="none" cap="none" strike="noStrike">
                <a:solidFill>
                  <a:schemeClr val="accent5"/>
                </a:solidFill>
                <a:latin typeface="Calibri"/>
                <a:ea typeface="Calibri"/>
                <a:cs typeface="Calibri"/>
                <a:sym typeface="Calibri"/>
              </a:rPr>
              <a:t>Current limitations</a:t>
            </a:r>
            <a:endParaRPr b="0" i="0" sz="1800" u="none" cap="none" strike="noStrike">
              <a:solidFill>
                <a:schemeClr val="dk1"/>
              </a:solidFill>
              <a:latin typeface="Calibri"/>
              <a:ea typeface="Calibri"/>
              <a:cs typeface="Calibri"/>
              <a:sym typeface="Calibri"/>
            </a:endParaRPr>
          </a:p>
        </p:txBody>
      </p:sp>
      <p:sp>
        <p:nvSpPr>
          <p:cNvPr id="150" name="Google Shape;150;p5"/>
          <p:cNvSpPr txBox="1"/>
          <p:nvPr/>
        </p:nvSpPr>
        <p:spPr>
          <a:xfrm>
            <a:off x="822960" y="2011680"/>
            <a:ext cx="4846320" cy="28346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Small local model may generate incomplete or incorrect answers</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Retrieval may miss relevant passages</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Citation presence does not necessarily prove citation support</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Pilot datasets and evaluation are limited</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Further independent human evaluation is required</a:t>
            </a:r>
            <a:endParaRPr b="0" i="0" sz="1600" u="none" cap="none" strike="noStrike">
              <a:solidFill>
                <a:schemeClr val="dk1"/>
              </a:solidFill>
              <a:latin typeface="Calibri"/>
              <a:ea typeface="Calibri"/>
              <a:cs typeface="Calibri"/>
              <a:sym typeface="Calibri"/>
            </a:endParaRPr>
          </a:p>
        </p:txBody>
      </p:sp>
      <p:sp>
        <p:nvSpPr>
          <p:cNvPr id="151" name="Google Shape;151;p5"/>
          <p:cNvSpPr/>
          <p:nvPr/>
        </p:nvSpPr>
        <p:spPr>
          <a:xfrm>
            <a:off x="6217920" y="1325880"/>
            <a:ext cx="5394960" cy="3611880"/>
          </a:xfrm>
          <a:prstGeom prst="roundRect">
            <a:avLst>
              <a:gd fmla="val 2025"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txBox="1"/>
          <p:nvPr/>
        </p:nvSpPr>
        <p:spPr>
          <a:xfrm>
            <a:off x="6492240" y="1508760"/>
            <a:ext cx="48463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1" i="0" lang="en-US" sz="1800" u="none" cap="none" strike="noStrike">
                <a:solidFill>
                  <a:schemeClr val="accent1"/>
                </a:solidFill>
                <a:latin typeface="Calibri"/>
                <a:ea typeface="Calibri"/>
                <a:cs typeface="Calibri"/>
                <a:sym typeface="Calibri"/>
              </a:rPr>
              <a:t>Future research</a:t>
            </a:r>
            <a:endParaRPr b="0" i="0" sz="1800" u="none" cap="none" strike="noStrike">
              <a:solidFill>
                <a:schemeClr val="dk1"/>
              </a:solidFill>
              <a:latin typeface="Calibri"/>
              <a:ea typeface="Calibri"/>
              <a:cs typeface="Calibri"/>
              <a:sym typeface="Calibri"/>
            </a:endParaRPr>
          </a:p>
        </p:txBody>
      </p:sp>
      <p:sp>
        <p:nvSpPr>
          <p:cNvPr id="153" name="Google Shape;153;p5"/>
          <p:cNvSpPr txBox="1"/>
          <p:nvPr/>
        </p:nvSpPr>
        <p:spPr>
          <a:xfrm>
            <a:off x="6492240" y="2011680"/>
            <a:ext cx="4846320" cy="28346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Measure retrieval quality and answer correctness with a predefined protocol</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Evaluate citation support and unsupported claims</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Test abstention on answerable and unanswerable questions</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Compare prompting or retrieval strategies under controlled conditions</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Improve reproducibility; document experimental limitations</a:t>
            </a:r>
            <a:endParaRPr b="0" i="0" sz="1600" u="none" cap="none" strike="noStrike">
              <a:solidFill>
                <a:schemeClr val="dk1"/>
              </a:solidFill>
              <a:latin typeface="Calibri"/>
              <a:ea typeface="Calibri"/>
              <a:cs typeface="Calibri"/>
              <a:sym typeface="Calibri"/>
            </a:endParaRPr>
          </a:p>
        </p:txBody>
      </p:sp>
      <p:sp>
        <p:nvSpPr>
          <p:cNvPr id="154" name="Google Shape;154;p5"/>
          <p:cNvSpPr/>
          <p:nvPr/>
        </p:nvSpPr>
        <p:spPr>
          <a:xfrm>
            <a:off x="548640" y="5120640"/>
            <a:ext cx="11064240" cy="1188720"/>
          </a:xfrm>
          <a:prstGeom prst="roundRect">
            <a:avLst>
              <a:gd fmla="val 615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txBox="1"/>
          <p:nvPr/>
        </p:nvSpPr>
        <p:spPr>
          <a:xfrm>
            <a:off x="822960" y="5212080"/>
            <a:ext cx="45720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1" i="0" lang="en-US" sz="1400" u="none" cap="none" strike="noStrike">
                <a:solidFill>
                  <a:schemeClr val="accent6"/>
                </a:solidFill>
                <a:latin typeface="Calibri"/>
                <a:ea typeface="Calibri"/>
                <a:cs typeface="Calibri"/>
                <a:sym typeface="Calibri"/>
              </a:rPr>
              <a:t>Research interest</a:t>
            </a:r>
            <a:endParaRPr b="0" i="0" sz="1400" u="none" cap="none" strike="noStrike">
              <a:solidFill>
                <a:schemeClr val="dk1"/>
              </a:solidFill>
              <a:latin typeface="Calibri"/>
              <a:ea typeface="Calibri"/>
              <a:cs typeface="Calibri"/>
              <a:sym typeface="Calibri"/>
            </a:endParaRPr>
          </a:p>
        </p:txBody>
      </p:sp>
      <p:sp>
        <p:nvSpPr>
          <p:cNvPr id="156" name="Google Shape;156;p5"/>
          <p:cNvSpPr txBox="1"/>
          <p:nvPr/>
        </p:nvSpPr>
        <p:spPr>
          <a:xfrm>
            <a:off x="822960" y="5486400"/>
            <a:ext cx="10515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I want to study when evidence-grounded language models can be trusted, connecting trustworthy AI, RAG evaluation, software testing, and evidence-grounded generation.</a:t>
            </a:r>
            <a:endParaRPr b="0" i="0" sz="1500" u="none" cap="none" strike="noStrike">
              <a:solidFill>
                <a:schemeClr val="dk1"/>
              </a:solidFill>
              <a:latin typeface="Calibri"/>
              <a:ea typeface="Calibri"/>
              <a:cs typeface="Calibri"/>
              <a:sym typeface="Calibri"/>
            </a:endParaRPr>
          </a:p>
        </p:txBody>
      </p:sp>
      <p:sp>
        <p:nvSpPr>
          <p:cNvPr id="157" name="Google Shape;157;p5"/>
          <p:cNvSpPr txBox="1"/>
          <p:nvPr/>
        </p:nvSpPr>
        <p:spPr>
          <a:xfrm>
            <a:off x="822960" y="6016752"/>
            <a:ext cx="7315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0" i="0" lang="en-US" sz="1100" u="sng" cap="none" strike="noStrike">
                <a:solidFill>
                  <a:schemeClr val="accent6"/>
                </a:solidFill>
                <a:latin typeface="Calibri"/>
                <a:ea typeface="Calibri"/>
                <a:cs typeface="Calibri"/>
                <a:sym typeface="Calibri"/>
                <a:hlinkClick r:id="rId3">
                  <a:extLst>
                    <a:ext uri="{A12FA001-AC4F-418D-AE19-62706E023703}">
                      <ahyp:hlinkClr val="tx"/>
                    </a:ext>
                  </a:extLst>
                </a:hlinkClick>
              </a:rPr>
              <a:t>https://github.com/143durga/AI-Research-Evidence-Analyzer</a:t>
            </a:r>
            <a:endParaRPr b="0" i="0" sz="1100" u="none" cap="none" strike="noStrike">
              <a:solidFill>
                <a:schemeClr val="dk1"/>
              </a:solidFill>
              <a:latin typeface="Calibri"/>
              <a:ea typeface="Calibri"/>
              <a:cs typeface="Calibri"/>
              <a:sym typeface="Calibri"/>
            </a:endParaRPr>
          </a:p>
        </p:txBody>
      </p:sp>
      <p:sp>
        <p:nvSpPr>
          <p:cNvPr id="158" name="Google Shape;158;p5"/>
          <p:cNvSpPr txBox="1"/>
          <p:nvPr>
            <p:ph idx="4294967295" type="sldNum"/>
          </p:nvPr>
        </p:nvSpPr>
        <p:spPr>
          <a:xfrm>
            <a:off x="1106424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3"/>
                </a:solidFill>
                <a:latin typeface="Calibri"/>
                <a:ea typeface="Calibri"/>
                <a:cs typeface="Calibri"/>
                <a:sym typeface="Calibri"/>
              </a:rPr>
              <a:t>‹#›</a:t>
            </a:fld>
            <a:endParaRPr b="0" i="0" sz="1000" u="none" cap="none" strike="noStrike">
              <a:solidFill>
                <a:schemeClr val="accent3"/>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pic>
        <p:nvPicPr>
          <p:cNvPr id="164" name="Google Shape;164;h1eca2568bb3fd584_0_0" title="Screenshot (626).png"/>
          <p:cNvPicPr preferRelativeResize="0"/>
          <p:nvPr/>
        </p:nvPicPr>
        <p:blipFill>
          <a:blip r:embed="rId3">
            <a:alphaModFix/>
          </a:blip>
          <a:stretch>
            <a:fillRect/>
          </a:stretch>
        </p:blipFill>
        <p:spPr>
          <a:xfrm>
            <a:off x="0" y="84550"/>
            <a:ext cx="12075101" cy="6773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9" name="Shape 169"/>
        <p:cNvGrpSpPr/>
        <p:nvPr/>
      </p:nvGrpSpPr>
      <p:grpSpPr>
        <a:xfrm>
          <a:off x="0" y="0"/>
          <a:ext cx="0" cy="0"/>
          <a:chOff x="0" y="0"/>
          <a:chExt cx="0" cy="0"/>
        </a:xfrm>
      </p:grpSpPr>
      <p:pic>
        <p:nvPicPr>
          <p:cNvPr id="170" name="Google Shape;170;h1eca2568bb3fd584_0_6" title="Screenshot (627).png"/>
          <p:cNvPicPr preferRelativeResize="0"/>
          <p:nvPr/>
        </p:nvPicPr>
        <p:blipFill>
          <a:blip r:embed="rId3">
            <a:alphaModFix/>
          </a:blip>
          <a:stretch>
            <a:fillRect/>
          </a:stretch>
        </p:blipFill>
        <p:spPr>
          <a:xfrm>
            <a:off x="152400" y="152400"/>
            <a:ext cx="11887200" cy="6705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Academic Evidence">
  <a:themeElements>
    <a:clrScheme name="Academic Evidence">
      <a:dk1>
        <a:srgbClr val="1B2733"/>
      </a:dk1>
      <a:lt1>
        <a:srgbClr val="FFFFFF"/>
      </a:lt1>
      <a:dk2>
        <a:srgbClr val="1F3A5F"/>
      </a:dk2>
      <a:lt2>
        <a:srgbClr val="EDF1F6"/>
      </a:lt2>
      <a:accent1>
        <a:srgbClr val="2A7F8E"/>
      </a:accent1>
      <a:accent2>
        <a:srgbClr val="C58B2A"/>
      </a:accent2>
      <a:accent3>
        <a:srgbClr val="5E6E80"/>
      </a:accent3>
      <a:accent4>
        <a:srgbClr val="3F7D5A"/>
      </a:accent4>
      <a:accent5>
        <a:srgbClr val="A24A3A"/>
      </a:accent5>
      <a:accent6>
        <a:srgbClr val="7A8FB0"/>
      </a:accent6>
      <a:hlink>
        <a:srgbClr val="2A7F8E"/>
      </a:hlink>
      <a:folHlink>
        <a:srgbClr val="5E6E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cademic Evidence">
  <a:themeElements>
    <a:clrScheme name="Academic Evidence">
      <a:dk1>
        <a:srgbClr val="1B2733"/>
      </a:dk1>
      <a:lt1>
        <a:srgbClr val="FFFFFF"/>
      </a:lt1>
      <a:dk2>
        <a:srgbClr val="1F3A5F"/>
      </a:dk2>
      <a:lt2>
        <a:srgbClr val="EDF1F6"/>
      </a:lt2>
      <a:accent1>
        <a:srgbClr val="2A7F8E"/>
      </a:accent1>
      <a:accent2>
        <a:srgbClr val="C58B2A"/>
      </a:accent2>
      <a:accent3>
        <a:srgbClr val="5E6E80"/>
      </a:accent3>
      <a:accent4>
        <a:srgbClr val="3F7D5A"/>
      </a:accent4>
      <a:accent5>
        <a:srgbClr val="A24A3A"/>
      </a:accent5>
      <a:accent6>
        <a:srgbClr val="7A8FB0"/>
      </a:accent6>
      <a:hlink>
        <a:srgbClr val="2A7F8E"/>
      </a:hlink>
      <a:folHlink>
        <a:srgbClr val="5E6E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2026-10-10T16:17:04Z</dcterms:created>
  <dc:creator>Durga Bhavani Pathina</dc:creator>
</cp:coreProperties>
</file>